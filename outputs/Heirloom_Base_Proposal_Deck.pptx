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a02078a8474ee2" /><Relationship Type="http://schemas.openxmlformats.org/officeDocument/2006/relationships/extended-properties" Target="/docProps/app.xml" Id="R6b08c0e43fb142b9" /><Relationship Type="http://schemas.openxmlformats.org/officeDocument/2006/relationships/officeDocument" Target="/ppt/presentation.xml" Id="R1ae44dd1f06444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5e901c375a429f"/>
  </p:sldMasterIdLst>
  <p:notesMasterIdLst>
    <p:notesMasterId xmlns:r="http://schemas.openxmlformats.org/officeDocument/2006/relationships" r:id="Rcaeb1a2cf1e54a37"/>
  </p:notesMasterIdLst>
  <p:sldIdLst>
    <p:sldId xmlns:r="http://schemas.openxmlformats.org/officeDocument/2006/relationships" id="256" r:id="Rc3b8654fef9d41f7"/>
    <p:sldId xmlns:r="http://schemas.openxmlformats.org/officeDocument/2006/relationships" id="257" r:id="Rcd1bc45fe6bb41e5"/>
    <p:sldId xmlns:r="http://schemas.openxmlformats.org/officeDocument/2006/relationships" id="258" r:id="R891c812b26344b1f"/>
    <p:sldId xmlns:r="http://schemas.openxmlformats.org/officeDocument/2006/relationships" id="259" r:id="R233e61e82efc46df"/>
    <p:sldId xmlns:r="http://schemas.openxmlformats.org/officeDocument/2006/relationships" id="260" r:id="R62abde0da36e4381"/>
    <p:sldId xmlns:r="http://schemas.openxmlformats.org/officeDocument/2006/relationships" id="261" r:id="R43142046f0424c81"/>
    <p:sldId xmlns:r="http://schemas.openxmlformats.org/officeDocument/2006/relationships" id="262" r:id="R852b560809004dc9"/>
    <p:sldId xmlns:r="http://schemas.openxmlformats.org/officeDocument/2006/relationships" id="263" r:id="R8fd198cdb766441e"/>
    <p:sldId xmlns:r="http://schemas.openxmlformats.org/officeDocument/2006/relationships" id="264" r:id="R2886a14b342e485a"/>
    <p:sldId xmlns:r="http://schemas.openxmlformats.org/officeDocument/2006/relationships" id="265" r:id="R9d801cf59d6846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0134fb001f474f" /><Relationship Type="http://schemas.openxmlformats.org/officeDocument/2006/relationships/slideMaster" Target="/ppt/slideMasters/slideMaster1.xml" Id="R175e901c375a429f" /><Relationship Type="http://schemas.openxmlformats.org/officeDocument/2006/relationships/notesMaster" Target="/ppt/notesMasters/notesMaster1.xml" Id="Rcaeb1a2cf1e54a37" /><Relationship Type="http://schemas.openxmlformats.org/officeDocument/2006/relationships/presProps" Target="/ppt/presProps.xml" Id="R9047f9b7bd134da7" /><Relationship Type="http://schemas.openxmlformats.org/officeDocument/2006/relationships/tableStyles" Target="/ppt/tableStyles.xml" Id="Ra7b4b6004b2a4e4d" /><Relationship Type="http://schemas.openxmlformats.org/officeDocument/2006/relationships/slide" Target="/ppt/slides/slide1.xml" Id="Rc3b8654fef9d41f7" /><Relationship Type="http://schemas.openxmlformats.org/officeDocument/2006/relationships/slide" Target="/ppt/slides/slide2.xml" Id="Rcd1bc45fe6bb41e5" /><Relationship Type="http://schemas.openxmlformats.org/officeDocument/2006/relationships/slide" Target="/ppt/slides/slide3.xml" Id="R891c812b26344b1f" /><Relationship Type="http://schemas.openxmlformats.org/officeDocument/2006/relationships/slide" Target="/ppt/slides/slide4.xml" Id="R233e61e82efc46df" /><Relationship Type="http://schemas.openxmlformats.org/officeDocument/2006/relationships/slide" Target="/ppt/slides/slide5.xml" Id="R62abde0da36e4381" /><Relationship Type="http://schemas.openxmlformats.org/officeDocument/2006/relationships/slide" Target="/ppt/slides/slide6.xml" Id="R43142046f0424c81" /><Relationship Type="http://schemas.openxmlformats.org/officeDocument/2006/relationships/slide" Target="/ppt/slides/slide7.xml" Id="R852b560809004dc9" /><Relationship Type="http://schemas.openxmlformats.org/officeDocument/2006/relationships/slide" Target="/ppt/slides/slide8.xml" Id="R8fd198cdb766441e" /><Relationship Type="http://schemas.openxmlformats.org/officeDocument/2006/relationships/slide" Target="/ppt/slides/slide9.xml" Id="R2886a14b342e485a" /><Relationship Type="http://schemas.openxmlformats.org/officeDocument/2006/relationships/slide" Target="/ppt/slides/slide10.xml" Id="R9d801cf59d6846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b2aa5e5de640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61ed408fde4207" /><Relationship Type="http://schemas.openxmlformats.org/officeDocument/2006/relationships/notesMaster" Target="/ppt/notesMasters/notesMaster1.xml" Id="R37146a38de954f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02aab2f79b4c83" /><Relationship Type="http://schemas.openxmlformats.org/officeDocument/2006/relationships/notesMaster" Target="/ppt/notesMasters/notesMaster1.xml" Id="Rd139fafa56b349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4bc5f7beed4a9a" /><Relationship Type="http://schemas.openxmlformats.org/officeDocument/2006/relationships/notesMaster" Target="/ppt/notesMasters/notesMaster1.xml" Id="R76259209999943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36f65c25f04ae3" /><Relationship Type="http://schemas.openxmlformats.org/officeDocument/2006/relationships/notesMaster" Target="/ppt/notesMasters/notesMaster1.xml" Id="R84b0888452064b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b41378625b4e6a" /><Relationship Type="http://schemas.openxmlformats.org/officeDocument/2006/relationships/notesMaster" Target="/ppt/notesMasters/notesMaster1.xml" Id="R2999579b06c947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48b09004d341d6" /><Relationship Type="http://schemas.openxmlformats.org/officeDocument/2006/relationships/notesMaster" Target="/ppt/notesMasters/notesMaster1.xml" Id="R481bfa018b5a41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816b7a1e3342fa" /><Relationship Type="http://schemas.openxmlformats.org/officeDocument/2006/relationships/notesMaster" Target="/ppt/notesMasters/notesMaster1.xml" Id="Ra3a517062dde4a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64caa959204138" /><Relationship Type="http://schemas.openxmlformats.org/officeDocument/2006/relationships/notesMaster" Target="/ppt/notesMasters/notesMaster1.xml" Id="R0b7a6abd596d42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b6ee47b8cf410e" /><Relationship Type="http://schemas.openxmlformats.org/officeDocument/2006/relationships/notesMaster" Target="/ppt/notesMasters/notesMaster1.xml" Id="R866eee6db74440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8adb302ac04ee6" /><Relationship Type="http://schemas.openxmlformats.org/officeDocument/2006/relationships/notesMaster" Target="/ppt/notesMasters/notesMaster1.xml" Id="Rfbab9c3c002b4d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/Users/kratos/Documents/Codex/2026-08-14/referenced-chatgpt-conversation-this-is-an/heirloom-protocol/apps/web/public/heirloom-social-card.png (project-owned visual asset)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/Users/kratos/Documents/Codex/2026-08-14/referenced-chatgpt-conversation-this-is-an/heirloom-protocol/docs/HEIRLOOM-BASE-PRD-TDD-v3.1.md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/Users/kratos/Documents/Codex/2026-08-14/referenced-chatgpt-conversation-this-is-an/heirloom-protocol/docs/HEIRLOOM-BASE-PRD-TDD-v3.1.md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/Users/kratos/Documents/Codex/2026-08-14/referenced-chatgpt-conversation-this-is-an/heirloom-protocol/docs/HEIRLOOM-BASE-PRD-TDD-v3.1.md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https://docs.base.org/get-started/get-funded</a:t>
            </a:r>
          </a:p>
          <a:p xmlns:a="http://schemas.openxmlformats.org/drawingml/2006/main">
            <a:r>
              <a:t>- /Users/kratos/Documents/Codex/2026-08-14/referenced-chatgpt-conversation-this-is-an/heirloom-protocol/docs/HEIRLOOM-BASE-PRD-TDD-v3.1.md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/Users/kratos/Documents/Codex/2026-08-14/referenced-chatgpt-conversation-this-is-an/heirloom-protocol/deployments/base-sepolia-02b0ea5-v3.1-r1.json</a:t>
            </a:r>
          </a:p>
          <a:p xmlns:a="http://schemas.openxmlformats.org/drawingml/2006/main">
            <a:r>
              <a:t>- /Users/kratos/Documents/Codex/2026-08-14/referenced-chatgpt-conversation-this-is-an/heirloom-protocol/deployments/base-sepolia-v3.1-r1-vault-0x21ea6a01.json</a:t>
            </a:r>
          </a:p>
          <a:p xmlns:a="http://schemas.openxmlformats.org/drawingml/2006/main">
            <a:r>
              <a:t>- /Users/kratos/Documents/Codex/2026-08-14/referenced-chatgpt-conversation-this-is-an/heirloom-protocol/docs/PROOF-OF-WORK.md</a:t>
            </a:r>
          </a:p>
          <a:p xmlns:a="http://schemas.openxmlformats.org/drawingml/2006/main">
            <a:r>
              <a:t>- https://github.com/gnanam1990/heirloom-protocol/actions/runs/31875566790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/Users/kratos/Documents/Codex/2026-08-14/referenced-chatgpt-conversation-this-is-an/heirloom-protocol/docs/HEIRLOOM-BASE-PRD-TDD-v3.1.md</a:t>
            </a:r>
          </a:p>
          <a:p xmlns:a="http://schemas.openxmlformats.org/drawingml/2006/main">
            <a:r>
              <a:t>- /Users/kratos/Documents/Codex/2026-08-14/referenced-chatgpt-conversation-this-is-an/heirloom-protocol/docs/INDEPENDENT-AUDIT-PACK.md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https://docs.base.org/get-started/get-funded</a:t>
            </a:r>
          </a:p>
          <a:p xmlns:a="http://schemas.openxmlformats.org/drawingml/2006/main">
            <a:r>
              <a:t>- https://paragraph.com/@grants.base.eth/calling-based-builders</a:t>
            </a:r>
          </a:p>
          <a:p xmlns:a="http://schemas.openxmlformats.org/drawingml/2006/main">
            <a:r>
              <a:t>- /Users/kratos/Documents/Codex/2026-08-14/referenced-chatgpt-conversation-this-is-an/heirloom-protocol/docs/BASE-BUILDER-GRANT-PROPOSAL.md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https://docs.google.com/forms/d/e/1FAIpQLSfXuEzmiAzRhie_z9raFCF1BXweXgVt18o-DvBuRRgyTygL2A/viewform</a:t>
            </a:r>
          </a:p>
          <a:p xmlns:a="http://schemas.openxmlformats.org/drawingml/2006/main">
            <a:r>
              <a:t>- /Users/kratos/Documents/Codex/2026-08-14/referenced-chatgpt-conversation-this-is-an/heirloom-protocol/docs/BASE-GRANT-ONE-MINUTE-DEMO.md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/Users/kratos/Documents/Codex/2026-08-14/referenced-chatgpt-conversation-this-is-an/heirloom-protocol/docs/BASE-BUILDER-GRANT-PROPOSAL.md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a10fde781148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8d73b768be4b59" /><Relationship Type="http://schemas.openxmlformats.org/officeDocument/2006/relationships/slideLayout" Target="/ppt/slideLayouts/slideLayout1.xml" Id="R934c00b37ee442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4c00b37ee442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ee8396c9b4f87" /><Relationship Type="http://schemas.openxmlformats.org/officeDocument/2006/relationships/image" Target="/ppt/media/image.png" Id="R6c665396ca4746a3" /><Relationship Type="http://schemas.openxmlformats.org/officeDocument/2006/relationships/notesSlide" Target="/ppt/notesSlides/notesSlide1.xml" Id="Ra62b36544c0f43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b0a4cc54243e8" /><Relationship Type="http://schemas.openxmlformats.org/officeDocument/2006/relationships/notesSlide" Target="/ppt/notesSlides/notesSlide2.xml" Id="R44a8a63759554a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0f550129c4d56" /><Relationship Type="http://schemas.openxmlformats.org/officeDocument/2006/relationships/notesSlide" Target="/ppt/notesSlides/notesSlide3.xml" Id="R69cb418bef5541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8f658dbb44845" /><Relationship Type="http://schemas.openxmlformats.org/officeDocument/2006/relationships/notesSlide" Target="/ppt/notesSlides/notesSlide4.xml" Id="Rca27609e94844e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ddf23fe554b0f" /><Relationship Type="http://schemas.openxmlformats.org/officeDocument/2006/relationships/notesSlide" Target="/ppt/notesSlides/notesSlide5.xml" Id="R85080784617f47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2f20251ce40bf" /><Relationship Type="http://schemas.openxmlformats.org/officeDocument/2006/relationships/notesSlide" Target="/ppt/notesSlides/notesSlide6.xml" Id="Rb4cf6d7c672245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fb870365940ce" /><Relationship Type="http://schemas.openxmlformats.org/officeDocument/2006/relationships/notesSlide" Target="/ppt/notesSlides/notesSlide7.xml" Id="R8545d05a77f54b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0fd88ccd24cf1" /><Relationship Type="http://schemas.openxmlformats.org/officeDocument/2006/relationships/notesSlide" Target="/ppt/notesSlides/notesSlide8.xml" Id="R95b59618fd184e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e5dd3204445fa" /><Relationship Type="http://schemas.openxmlformats.org/officeDocument/2006/relationships/notesSlide" Target="/ppt/notesSlides/notesSlide9.xml" Id="R363b41394beb4d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a94af6a0240c1" /><Relationship Type="http://schemas.openxmlformats.org/officeDocument/2006/relationships/notesSlide" Target="/ppt/notesSlides/notesSlide10.xml" Id="Ra302f0e7535940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lue-rail">
            <a:extLst xmlns:a="http://schemas.openxmlformats.org/drawingml/2006/main">
              <a:ext uri="{FF2B5EF4-FFF2-40B4-BE49-F238E27FC236}">
                <a16:creationId xmlns:a16="http://schemas.microsoft.com/office/drawing/2014/main" id="{6CB092F1-A624-42BF-8AD5-2F277FA3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E3A480EF-AFA9-45CB-9FBB-01D27601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A4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EA4FF"/>
                </a:solidFill>
                <a:latin typeface="Arial"/>
                <a:ea typeface="Arial"/>
                <a:cs typeface="Arial"/>
              </a:rPr>
              <a:t>HEIRLOOM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22471C-3DB8-486E-BD88-698819B6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USDC continuity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Base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244D56BF-A762-44B2-9E65-A70694ED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C5CAD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C5CAD3"/>
                </a:solidFill>
                <a:latin typeface="Arial"/>
                <a:ea typeface="Arial"/>
                <a:cs typeface="Arial"/>
              </a:rPr>
              <a:t>Permissionless execution without payout authority</a:t>
            </a:r>
          </a:p>
        </p:txBody>
      </p:sp>
      <p:sp>
        <p:nvSpPr>
          <p:cNvPr id="5" name="status">
            <a:extLst xmlns:a="http://schemas.openxmlformats.org/drawingml/2006/main">
              <a:ext uri="{FF2B5EF4-FFF2-40B4-BE49-F238E27FC236}">
                <a16:creationId xmlns:a16="http://schemas.microsoft.com/office/drawing/2014/main" id="{F9E60702-D54F-44F4-BD75-CB5C3DA0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WORKING BASE SEPOLIA PROTOTYPE</a:t>
            </a:r>
          </a:p>
        </p:txBody>
      </p:sp>
      <p:sp>
        <p:nvSpPr>
          <p:cNvPr id="6" name="status-detail">
            <a:extLst xmlns:a="http://schemas.openxmlformats.org/drawingml/2006/main">
              <a:ext uri="{FF2B5EF4-FFF2-40B4-BE49-F238E27FC236}">
                <a16:creationId xmlns:a16="http://schemas.microsoft.com/office/drawing/2014/main" id="{DA010428-06C2-4499-8A49-D0667CDA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8F98A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8F98A7"/>
                </a:solidFill>
                <a:latin typeface="Arial"/>
                <a:ea typeface="Arial"/>
                <a:cs typeface="Arial"/>
              </a:rPr>
              <a:t>Funded vault · verified contracts · measurable next pilot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65396ca4746a3"/>
          <a:srcRect xmlns:a="http://schemas.openxmlformats.org/drawingml/2006/main" l="7254" t="0" r="72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933450"/>
            <a:ext cx="6076950" cy="40005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8" name="deck-purpose">
            <a:extLst xmlns:a="http://schemas.openxmlformats.org/drawingml/2006/main">
              <a:ext uri="{FF2B5EF4-FFF2-40B4-BE49-F238E27FC236}">
                <a16:creationId xmlns:a16="http://schemas.microsoft.com/office/drawing/2014/main" id="{9B1DF5B8-294C-4059-A32C-8F2DD92A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EA4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A4FF"/>
                </a:solidFill>
                <a:latin typeface="Arial"/>
                <a:ea typeface="Arial"/>
                <a:cs typeface="Arial"/>
              </a:rPr>
              <a:t>BASE BUILDER GRANT · PROPOSAL DECK</a:t>
            </a:r>
          </a:p>
        </p:txBody>
      </p:sp>
    </p:spTree>
    <p:extLst>
      <p:ext uri="{BB962C8B-B14F-4D97-AF65-F5344CB8AC3E}">
        <p14:creationId xmlns:p14="http://schemas.microsoft.com/office/powerpoint/2010/main" val="2736058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670781C4-C9E1-412C-9C8A-CA47FC00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HEIRLOOM / BASE BUILDER PROPOSAL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425B96-8C13-46BE-AC97-79F4A43C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Self-custody has an availability gap</a:t>
            </a:r>
          </a:p>
        </p:txBody>
      </p:sp>
      <p:sp>
        <p:nvSpPr>
          <p:cNvPr id="3" name="giant-one">
            <a:extLst xmlns:a="http://schemas.openxmlformats.org/drawingml/2006/main">
              <a:ext uri="{FF2B5EF4-FFF2-40B4-BE49-F238E27FC236}">
                <a16:creationId xmlns:a16="http://schemas.microsoft.com/office/drawing/2014/main" id="{658280F2-0319-4DB6-8833-C573702B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228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0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18750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one-key">
            <a:extLst xmlns:a="http://schemas.openxmlformats.org/drawingml/2006/main">
              <a:ext uri="{FF2B5EF4-FFF2-40B4-BE49-F238E27FC236}">
                <a16:creationId xmlns:a16="http://schemas.microsoft.com/office/drawing/2014/main" id="{B4E49F15-D882-4200-9DE6-B1D288E6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005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key holder</a:t>
            </a:r>
          </a:p>
        </p:txBody>
      </p:sp>
      <p:sp>
        <p:nvSpPr>
          <p:cNvPr id="5" name="problem-branch">
            <a:extLst xmlns:a="http://schemas.openxmlformats.org/drawingml/2006/main">
              <a:ext uri="{FF2B5EF4-FFF2-40B4-BE49-F238E27FC236}">
                <a16:creationId xmlns:a16="http://schemas.microsoft.com/office/drawing/2014/main" id="{ACA25A52-4F08-40EB-AE3A-DCB3C738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9550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0B0D"/>
            </a:solidFill>
            <a:prstDash val="solid"/>
          </a:ln>
        </p:spPr>
      </p:sp>
      <p:sp>
        <p:nvSpPr>
          <p:cNvPr id="6" name="problem-top">
            <a:extLst xmlns:a="http://schemas.openxmlformats.org/drawingml/2006/main">
              <a:ext uri="{FF2B5EF4-FFF2-40B4-BE49-F238E27FC236}">
                <a16:creationId xmlns:a16="http://schemas.microsoft.com/office/drawing/2014/main" id="{A2FBA2C5-2586-4DE2-AE40-2D916BC5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955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0B0D"/>
            </a:solidFill>
            <a:prstDash val="solid"/>
          </a:ln>
        </p:spPr>
      </p:sp>
      <p:sp>
        <p:nvSpPr>
          <p:cNvPr id="7" name="problem-bottom">
            <a:extLst xmlns:a="http://schemas.openxmlformats.org/drawingml/2006/main">
              <a:ext uri="{FF2B5EF4-FFF2-40B4-BE49-F238E27FC236}">
                <a16:creationId xmlns:a16="http://schemas.microsoft.com/office/drawing/2014/main" id="{C3426E31-4649-424E-9A07-E5804725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530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0B0D"/>
            </a:solidFill>
            <a:prstDash val="solid"/>
          </a:ln>
        </p:spPr>
      </p:sp>
      <p:sp>
        <p:nvSpPr>
          <p:cNvPr id="8" name="problem-dot-top">
            <a:extLst xmlns:a="http://schemas.openxmlformats.org/drawingml/2006/main">
              <a:ext uri="{FF2B5EF4-FFF2-40B4-BE49-F238E27FC236}">
                <a16:creationId xmlns:a16="http://schemas.microsoft.com/office/drawing/2014/main" id="{081EF8B1-8AE2-4B2D-8AD4-4D7AF0AF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81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85F"/>
          </a:solidFill>
          <a:ln xmlns:a="http://schemas.openxmlformats.org/drawingml/2006/main" w="0">
            <a:solidFill>
              <a:srgbClr val="D9485F"/>
            </a:solidFill>
            <a:prstDash val="solid"/>
          </a:ln>
        </p:spPr>
      </p:sp>
      <p:sp>
        <p:nvSpPr>
          <p:cNvPr id="9" name="problem-dot-bottom">
            <a:extLst xmlns:a="http://schemas.openxmlformats.org/drawingml/2006/main">
              <a:ext uri="{FF2B5EF4-FFF2-40B4-BE49-F238E27FC236}">
                <a16:creationId xmlns:a16="http://schemas.microsoft.com/office/drawing/2014/main" id="{53968C49-FB6A-41E0-B934-4D2FF085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38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712"/>
          </a:solidFill>
          <a:ln xmlns:a="http://schemas.openxmlformats.org/drawingml/2006/main" w="0">
            <a:solidFill>
              <a:srgbClr val="F3A712"/>
            </a:solidFill>
            <a:prstDash val="solid"/>
          </a:ln>
        </p:spPr>
      </p:sp>
      <p:sp>
        <p:nvSpPr>
          <p:cNvPr id="10" name="unavailable-title">
            <a:extLst xmlns:a="http://schemas.openxmlformats.org/drawingml/2006/main">
              <a:ext uri="{FF2B5EF4-FFF2-40B4-BE49-F238E27FC236}">
                <a16:creationId xmlns:a16="http://schemas.microsoft.com/office/drawing/2014/main" id="{F71AC6FD-55A5-4065-8AF4-893FC4BF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764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Unavailable</a:t>
            </a:r>
          </a:p>
        </p:txBody>
      </p:sp>
      <p:sp>
        <p:nvSpPr>
          <p:cNvPr id="11" name="unavailable-body">
            <a:extLst xmlns:a="http://schemas.openxmlformats.org/drawingml/2006/main">
              <a:ext uri="{FF2B5EF4-FFF2-40B4-BE49-F238E27FC236}">
                <a16:creationId xmlns:a16="http://schemas.microsoft.com/office/drawing/2014/main" id="{A8535CF9-2D68-49A6-B040-F5B857C5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098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9707D"/>
                </a:solidFill>
                <a:latin typeface="Arial"/>
                <a:ea typeface="Arial"/>
                <a:cs typeface="Arial"/>
              </a:rPr>
              <a:t>Funds can remain inaccessible indefinitely—even when the owner's intent was known.</a:t>
            </a:r>
          </a:p>
        </p:txBody>
      </p:sp>
      <p:sp>
        <p:nvSpPr>
          <p:cNvPr id="12" name="shared-title">
            <a:extLst xmlns:a="http://schemas.openxmlformats.org/drawingml/2006/main">
              <a:ext uri="{FF2B5EF4-FFF2-40B4-BE49-F238E27FC236}">
                <a16:creationId xmlns:a16="http://schemas.microsoft.com/office/drawing/2014/main" id="{48671A2F-7965-485B-A3F1-389EFFC0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33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Credential shared early</a:t>
            </a:r>
          </a:p>
        </p:txBody>
      </p:sp>
      <p:sp>
        <p:nvSpPr>
          <p:cNvPr id="13" name="shared-body">
            <a:extLst xmlns:a="http://schemas.openxmlformats.org/drawingml/2006/main">
              <a:ext uri="{FF2B5EF4-FFF2-40B4-BE49-F238E27FC236}">
                <a16:creationId xmlns:a16="http://schemas.microsoft.com/office/drawing/2014/main" id="{D5446D71-703F-406D-AD68-63AFA8ED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673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9707D"/>
                </a:solidFill>
                <a:latin typeface="Arial"/>
                <a:ea typeface="Arial"/>
                <a:cs typeface="Arial"/>
              </a:rPr>
              <a:t>A seed phrase or recovery secret becomes an immediate theft and privacy risk.</a:t>
            </a:r>
          </a:p>
        </p:txBody>
      </p:sp>
      <p:sp>
        <p:nvSpPr>
          <p:cNvPr id="14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956A8BFE-79AE-44DB-ACD5-AA5218E5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5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F66A8AE2-7F51-4B73-A089-AD9B6BCF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9707D"/>
                </a:solidFill>
                <a:latin typeface="Arial"/>
                <a:ea typeface="Arial"/>
                <a:cs typeface="Arial"/>
              </a:rPr>
              <a:t>HEIRLOOM · BASE SEPOLIA PROPOSAL</a:t>
            </a:r>
          </a:p>
        </p:txBody>
      </p:sp>
      <p:sp>
        <p:nvSpPr>
          <p:cNvPr id="1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F5F79EA8-B885-423F-BCEE-C09D4B0D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970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75477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62FAF965-576D-45DD-9A04-E6F3BCE7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HEIRLOOM / BASE BUILDER PROPOSAL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7B5C4C-0F92-4D1A-B532-9CB022B6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Heirloom separates execution from payout authority</a:t>
            </a:r>
          </a:p>
        </p:txBody>
      </p:sp>
      <p:sp>
        <p:nvSpPr>
          <p:cNvPr id="3" name="left-field">
            <a:extLst xmlns:a="http://schemas.openxmlformats.org/drawingml/2006/main">
              <a:ext uri="{FF2B5EF4-FFF2-40B4-BE49-F238E27FC236}">
                <a16:creationId xmlns:a16="http://schemas.microsoft.com/office/drawing/2014/main" id="{DE280F0F-26E2-4F1A-BB19-43CDCEAF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66725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0A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kicker">
            <a:extLst xmlns:a="http://schemas.openxmlformats.org/drawingml/2006/main">
              <a:ext uri="{FF2B5EF4-FFF2-40B4-BE49-F238E27FC236}">
                <a16:creationId xmlns:a16="http://schemas.microsoft.com/office/drawing/2014/main" id="{370F514C-617C-4BF1-8119-02064471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EA4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EA4FF"/>
                </a:solidFill>
                <a:latin typeface="Arial"/>
                <a:ea typeface="Arial"/>
                <a:cs typeface="Arial"/>
              </a:rPr>
              <a:t>OPEN EXECUTION</a:t>
            </a:r>
          </a:p>
        </p:txBody>
      </p:sp>
      <p:sp>
        <p:nvSpPr>
          <p:cNvPr id="5" name="left-title">
            <a:extLst xmlns:a="http://schemas.openxmlformats.org/drawingml/2006/main">
              <a:ext uri="{FF2B5EF4-FFF2-40B4-BE49-F238E27FC236}">
                <a16:creationId xmlns:a16="http://schemas.microsoft.com/office/drawing/2014/main" id="{6081C686-CC4D-4772-AEAE-B8186C29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Anyone can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advance the plan</a:t>
            </a:r>
          </a:p>
        </p:txBody>
      </p:sp>
      <p:sp>
        <p:nvSpPr>
          <p:cNvPr id="6" name="left-body">
            <a:extLst xmlns:a="http://schemas.openxmlformats.org/drawingml/2006/main">
              <a:ext uri="{FF2B5EF4-FFF2-40B4-BE49-F238E27FC236}">
                <a16:creationId xmlns:a16="http://schemas.microsoft.com/office/drawing/2014/main" id="{3FD29B3F-9C08-43B4-9008-82F67244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B6BEC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B6BEC9"/>
                </a:solidFill>
                <a:latin typeface="Arial"/>
                <a:ea typeface="Arial"/>
                <a:cs typeface="Arial"/>
              </a:rPr>
              <a:t>A relayer, beneficiary, backend, or stranger may pay gas after the required time boundaries.</a:t>
            </a:r>
          </a:p>
        </p:txBody>
      </p:sp>
      <p:sp>
        <p:nvSpPr>
          <p:cNvPr id="7" name="operator">
            <a:extLst xmlns:a="http://schemas.openxmlformats.org/drawingml/2006/main">
              <a:ext uri="{FF2B5EF4-FFF2-40B4-BE49-F238E27FC236}">
                <a16:creationId xmlns:a16="http://schemas.microsoft.com/office/drawing/2014/main" id="{A42282B5-BD6D-4096-96E6-0C7FFB6C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5275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8" name="right-kicker">
            <a:extLst xmlns:a="http://schemas.openxmlformats.org/drawingml/2006/main">
              <a:ext uri="{FF2B5EF4-FFF2-40B4-BE49-F238E27FC236}">
                <a16:creationId xmlns:a16="http://schemas.microsoft.com/office/drawing/2014/main" id="{A890CBB7-B960-44C5-985F-95C71CBB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383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LOCKED ECONOMICS</a:t>
            </a:r>
          </a:p>
        </p:txBody>
      </p:sp>
      <p:sp>
        <p:nvSpPr>
          <p:cNvPr id="9" name="right-title">
            <a:extLst xmlns:a="http://schemas.openxmlformats.org/drawingml/2006/main">
              <a:ext uri="{FF2B5EF4-FFF2-40B4-BE49-F238E27FC236}">
                <a16:creationId xmlns:a16="http://schemas.microsoft.com/office/drawing/2014/main" id="{ABF52B94-8152-444A-8B5F-D40F09CB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9555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The contract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aims the funds</a:t>
            </a:r>
          </a:p>
        </p:txBody>
      </p:sp>
      <p:sp>
        <p:nvSpPr>
          <p:cNvPr id="10" name="right-rule">
            <a:extLst xmlns:a="http://schemas.openxmlformats.org/drawingml/2006/main">
              <a:ext uri="{FF2B5EF4-FFF2-40B4-BE49-F238E27FC236}">
                <a16:creationId xmlns:a16="http://schemas.microsoft.com/office/drawing/2014/main" id="{AC52369A-48FC-43D9-9C6E-AD1808A4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290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5"/>
            </a:solidFill>
            <a:prstDash val="solid"/>
          </a:ln>
        </p:spPr>
      </p:sp>
      <p:sp>
        <p:nvSpPr>
          <p:cNvPr id="11" name="right-body">
            <a:extLst xmlns:a="http://schemas.openxmlformats.org/drawingml/2006/main">
              <a:ext uri="{FF2B5EF4-FFF2-40B4-BE49-F238E27FC236}">
                <a16:creationId xmlns:a16="http://schemas.microsoft.com/office/drawing/2014/main" id="{8A96737B-CD07-487E-A176-5E0A169C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95750"/>
            <a:ext cx="4095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9707D"/>
                </a:solidFill>
                <a:latin typeface="Arial"/>
                <a:ea typeface="Arial"/>
                <a:cs typeface="Arial"/>
              </a:rPr>
              <a:t>The caller cannot choose destination, amount, phase, entitlement, or terminal order.</a:t>
            </a:r>
          </a:p>
        </p:txBody>
      </p:sp>
      <p:sp>
        <p:nvSpPr>
          <p:cNvPr id="12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3AAEB176-22F1-41A9-881F-38A782B6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3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B423541D-D5A9-44B5-8238-B533FCB9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9707D"/>
                </a:solidFill>
                <a:latin typeface="Arial"/>
                <a:ea typeface="Arial"/>
                <a:cs typeface="Arial"/>
              </a:rPr>
              <a:t>HEIRLOOM · BASE SEPOLIA PROPOSAL</a:t>
            </a:r>
          </a:p>
        </p:txBody>
      </p:sp>
      <p:sp>
        <p:nvSpPr>
          <p:cNvPr id="14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DC813AB6-B88E-4F83-9E1F-DB65D48E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970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33713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3BE79D83-4844-4C7D-8448-A60045AE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HEIRLOOM / BASE BUILDER PROPOSAL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009B37-2914-49F8-A286-3B452156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A challengeable state machine—not a dead-man button</a:t>
            </a:r>
          </a:p>
        </p:txBody>
      </p:sp>
      <p:sp>
        <p:nvSpPr>
          <p:cNvPr id="3" name="timeline-base">
            <a:extLst xmlns:a="http://schemas.openxmlformats.org/drawingml/2006/main">
              <a:ext uri="{FF2B5EF4-FFF2-40B4-BE49-F238E27FC236}">
                <a16:creationId xmlns:a16="http://schemas.microsoft.com/office/drawing/2014/main" id="{CB8E1D45-4986-4AAF-A6C1-E50F9BB8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963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D9DDE5"/>
            </a:solidFill>
            <a:prstDash val="solid"/>
          </a:ln>
        </p:spPr>
      </p:sp>
      <p:sp>
        <p:nvSpPr>
          <p:cNvPr id="4" name="timeline-live">
            <a:extLst xmlns:a="http://schemas.openxmlformats.org/drawingml/2006/main">
              <a:ext uri="{FF2B5EF4-FFF2-40B4-BE49-F238E27FC236}">
                <a16:creationId xmlns:a16="http://schemas.microsoft.com/office/drawing/2014/main" id="{8A133050-CC0E-4308-B2A1-BC5DDA8F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52FF"/>
            </a:solidFill>
            <a:prstDash val="solid"/>
          </a:ln>
        </p:spPr>
      </p:sp>
      <p:sp>
        <p:nvSpPr>
          <p:cNvPr id="5" name="node-0">
            <a:extLst xmlns:a="http://schemas.openxmlformats.org/drawingml/2006/main">
              <a:ext uri="{FF2B5EF4-FFF2-40B4-BE49-F238E27FC236}">
                <a16:creationId xmlns:a16="http://schemas.microsoft.com/office/drawing/2014/main" id="{453ED904-6DAF-4817-8153-85FCED99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2F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6" name="node-label-0">
            <a:extLst xmlns:a="http://schemas.openxmlformats.org/drawingml/2006/main">
              <a:ext uri="{FF2B5EF4-FFF2-40B4-BE49-F238E27FC236}">
                <a16:creationId xmlns:a16="http://schemas.microsoft.com/office/drawing/2014/main" id="{30793CEC-7F26-4FDC-A350-14493498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719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ACTIVE</a:t>
            </a:r>
          </a:p>
        </p:txBody>
      </p:sp>
      <p:sp>
        <p:nvSpPr>
          <p:cNvPr id="7" name="node-sub-0">
            <a:extLst xmlns:a="http://schemas.openxmlformats.org/drawingml/2006/main">
              <a:ext uri="{FF2B5EF4-FFF2-40B4-BE49-F238E27FC236}">
                <a16:creationId xmlns:a16="http://schemas.microsoft.com/office/drawing/2014/main" id="{CFED0BA8-F8CD-4476-8829-31410E21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9707D"/>
                </a:solidFill>
                <a:latin typeface="Arial"/>
                <a:ea typeface="Arial"/>
                <a:cs typeface="Arial"/>
              </a:rPr>
              <a:t>Owner controls funds</a:t>
            </a:r>
          </a:p>
        </p:txBody>
      </p:sp>
      <p:sp>
        <p:nvSpPr>
          <p:cNvPr id="8" name="node-1">
            <a:extLst xmlns:a="http://schemas.openxmlformats.org/drawingml/2006/main">
              <a:ext uri="{FF2B5EF4-FFF2-40B4-BE49-F238E27FC236}">
                <a16:creationId xmlns:a16="http://schemas.microsoft.com/office/drawing/2014/main" id="{955DCDC7-BB8B-42E9-BF79-7D722A0E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19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2F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" name="node-label-1">
            <a:extLst xmlns:a="http://schemas.openxmlformats.org/drawingml/2006/main">
              <a:ext uri="{FF2B5EF4-FFF2-40B4-BE49-F238E27FC236}">
                <a16:creationId xmlns:a16="http://schemas.microsoft.com/office/drawing/2014/main" id="{832B9245-D1DC-4FAB-85B2-227BA166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719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INACTIVE</a:t>
            </a:r>
          </a:p>
        </p:txBody>
      </p:sp>
      <p:sp>
        <p:nvSpPr>
          <p:cNvPr id="10" name="node-sub-1">
            <a:extLst xmlns:a="http://schemas.openxmlformats.org/drawingml/2006/main">
              <a:ext uri="{FF2B5EF4-FFF2-40B4-BE49-F238E27FC236}">
                <a16:creationId xmlns:a16="http://schemas.microsoft.com/office/drawing/2014/main" id="{B490649C-446E-4821-893E-FE9DF248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95750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9707D"/>
                </a:solidFill>
                <a:latin typeface="Arial"/>
                <a:ea typeface="Arial"/>
                <a:cs typeface="Arial"/>
              </a:rPr>
              <a:t>Time threshold</a:t>
            </a:r>
          </a:p>
        </p:txBody>
      </p:sp>
      <p:sp>
        <p:nvSpPr>
          <p:cNvPr id="11" name="node-2">
            <a:extLst xmlns:a="http://schemas.openxmlformats.org/drawingml/2006/main">
              <a:ext uri="{FF2B5EF4-FFF2-40B4-BE49-F238E27FC236}">
                <a16:creationId xmlns:a16="http://schemas.microsoft.com/office/drawing/2014/main" id="{242EDEE2-F74A-44FD-97EE-63330194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19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2F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2" name="node-label-2">
            <a:extLst xmlns:a="http://schemas.openxmlformats.org/drawingml/2006/main">
              <a:ext uri="{FF2B5EF4-FFF2-40B4-BE49-F238E27FC236}">
                <a16:creationId xmlns:a16="http://schemas.microsoft.com/office/drawing/2014/main" id="{2318243E-024E-41C6-8C06-6200B4D8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719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sp>
        <p:nvSpPr>
          <p:cNvPr id="13" name="node-sub-2">
            <a:extLst xmlns:a="http://schemas.openxmlformats.org/drawingml/2006/main">
              <a:ext uri="{FF2B5EF4-FFF2-40B4-BE49-F238E27FC236}">
                <a16:creationId xmlns:a16="http://schemas.microsoft.com/office/drawing/2014/main" id="{7175BAC9-4A28-497A-B1CE-4CC71541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9707D"/>
                </a:solidFill>
                <a:latin typeface="Arial"/>
                <a:ea typeface="Arial"/>
                <a:cs typeface="Arial"/>
              </a:rPr>
              <a:t>No asset moves</a:t>
            </a:r>
          </a:p>
        </p:txBody>
      </p:sp>
      <p:sp>
        <p:nvSpPr>
          <p:cNvPr id="14" name="node-3">
            <a:extLst xmlns:a="http://schemas.openxmlformats.org/drawingml/2006/main">
              <a:ext uri="{FF2B5EF4-FFF2-40B4-BE49-F238E27FC236}">
                <a16:creationId xmlns:a16="http://schemas.microsoft.com/office/drawing/2014/main" id="{38BEA11E-4B12-4798-A6E5-2901D5BB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19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2F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5" name="node-label-3">
            <a:extLst xmlns:a="http://schemas.openxmlformats.org/drawingml/2006/main">
              <a:ext uri="{FF2B5EF4-FFF2-40B4-BE49-F238E27FC236}">
                <a16:creationId xmlns:a16="http://schemas.microsoft.com/office/drawing/2014/main" id="{7B66145F-1234-42D3-B4F7-302A636D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719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SNAPSHOT</a:t>
            </a:r>
          </a:p>
        </p:txBody>
      </p:sp>
      <p:sp>
        <p:nvSpPr>
          <p:cNvPr id="16" name="node-sub-3">
            <a:extLst xmlns:a="http://schemas.openxmlformats.org/drawingml/2006/main">
              <a:ext uri="{FF2B5EF4-FFF2-40B4-BE49-F238E27FC236}">
                <a16:creationId xmlns:a16="http://schemas.microsoft.com/office/drawing/2014/main" id="{27D16F24-61AB-4500-B0C2-B7558D99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9707D"/>
                </a:solidFill>
                <a:latin typeface="Arial"/>
                <a:ea typeface="Arial"/>
                <a:cs typeface="Arial"/>
              </a:rPr>
              <a:t>Irreversible boundary</a:t>
            </a:r>
          </a:p>
        </p:txBody>
      </p:sp>
      <p:sp>
        <p:nvSpPr>
          <p:cNvPr id="17" name="node-4">
            <a:extLst xmlns:a="http://schemas.openxmlformats.org/drawingml/2006/main">
              <a:ext uri="{FF2B5EF4-FFF2-40B4-BE49-F238E27FC236}">
                <a16:creationId xmlns:a16="http://schemas.microsoft.com/office/drawing/2014/main" id="{A275ACCE-AA07-4556-AAD6-BF9D2F16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19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B0D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8" name="node-label-4">
            <a:extLst xmlns:a="http://schemas.openxmlformats.org/drawingml/2006/main">
              <a:ext uri="{FF2B5EF4-FFF2-40B4-BE49-F238E27FC236}">
                <a16:creationId xmlns:a16="http://schemas.microsoft.com/office/drawing/2014/main" id="{3757CCE0-6ABE-4D4F-B95A-873C2A98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719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SETTLED</a:t>
            </a:r>
          </a:p>
        </p:txBody>
      </p:sp>
      <p:sp>
        <p:nvSpPr>
          <p:cNvPr id="19" name="node-sub-4">
            <a:extLst xmlns:a="http://schemas.openxmlformats.org/drawingml/2006/main">
              <a:ext uri="{FF2B5EF4-FFF2-40B4-BE49-F238E27FC236}">
                <a16:creationId xmlns:a16="http://schemas.microsoft.com/office/drawing/2014/main" id="{0866FA00-7275-43CE-8D42-E97712B2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95750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9707D"/>
                </a:solidFill>
                <a:latin typeface="Arial"/>
                <a:ea typeface="Arial"/>
                <a:cs typeface="Arial"/>
              </a:rPr>
              <a:t>Terminal paid last</a:t>
            </a:r>
          </a:p>
        </p:txBody>
      </p:sp>
      <p:sp>
        <p:nvSpPr>
          <p:cNvPr id="20" name="challenge-callout">
            <a:extLst xmlns:a="http://schemas.openxmlformats.org/drawingml/2006/main">
              <a:ext uri="{FF2B5EF4-FFF2-40B4-BE49-F238E27FC236}">
                <a16:creationId xmlns:a16="http://schemas.microsoft.com/office/drawing/2014/main" id="{28A5B24E-CFFC-4DAA-AE33-81A3DBD8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676400"/>
            <a:ext cx="59626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E9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allenge-copy">
            <a:extLst xmlns:a="http://schemas.openxmlformats.org/drawingml/2006/main">
              <a:ext uri="{FF2B5EF4-FFF2-40B4-BE49-F238E27FC236}">
                <a16:creationId xmlns:a16="http://schemas.microsoft.com/office/drawing/2014/main" id="{10CFE7B7-07FB-4655-BF88-44436231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85950"/>
            <a:ext cx="539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Fresh owner authorization cancels the claim before the snapshot.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After the snapshot, distribution is intentionally irreversible.</a:t>
            </a:r>
          </a:p>
        </p:txBody>
      </p:sp>
      <p:sp>
        <p:nvSpPr>
          <p:cNvPr id="22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6CD4154F-0BFD-4085-80D7-7682ED52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3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559720EA-0BE1-48B0-A0BC-FE2F3041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9707D"/>
                </a:solidFill>
                <a:latin typeface="Arial"/>
                <a:ea typeface="Arial"/>
                <a:cs typeface="Arial"/>
              </a:rPr>
              <a:t>HEIRLOOM · BASE SEPOLIA PROPOSAL</a:t>
            </a:r>
          </a:p>
        </p:txBody>
      </p:sp>
      <p:sp>
        <p:nvSpPr>
          <p:cNvPr id="24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AA71B0C4-6BB5-43A1-A425-78668195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970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12064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5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C130C0A4-87AE-43ED-A6B3-BB604CCD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A4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A4FF"/>
                </a:solidFill>
                <a:latin typeface="Arial"/>
                <a:ea typeface="Arial"/>
                <a:cs typeface="Arial"/>
              </a:rPr>
              <a:t>WHY BASE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A192D8-04C8-4617-B3BB-20E293E4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 makes recurring liveness economically practical</a:t>
            </a:r>
          </a:p>
        </p:txBody>
      </p:sp>
      <p:sp>
        <p:nvSpPr>
          <p:cNvPr id="3" name="base-why">
            <a:extLst xmlns:a="http://schemas.openxmlformats.org/drawingml/2006/main">
              <a:ext uri="{FF2B5EF4-FFF2-40B4-BE49-F238E27FC236}">
                <a16:creationId xmlns:a16="http://schemas.microsoft.com/office/drawing/2014/main" id="{E03DC73D-8799-4CBB-BE3E-A20459DC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715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Low-cost owner actions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 native USDC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 passkey-ready onboarding</a:t>
            </a:r>
          </a:p>
        </p:txBody>
      </p:sp>
      <p:sp>
        <p:nvSpPr>
          <p:cNvPr id="4" name="base-divider">
            <a:extLst xmlns:a="http://schemas.openxmlformats.org/drawingml/2006/main">
              <a:ext uri="{FF2B5EF4-FFF2-40B4-BE49-F238E27FC236}">
                <a16:creationId xmlns:a16="http://schemas.microsoft.com/office/drawing/2014/main" id="{95B1D933-6524-4DBA-AFDD-555E87A5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57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8CFF"/>
            </a:solidFill>
            <a:prstDash val="solid"/>
          </a:ln>
        </p:spPr>
      </p:sp>
      <p:sp>
        <p:nvSpPr>
          <p:cNvPr id="5" name="base-proof-title">
            <a:extLst xmlns:a="http://schemas.openxmlformats.org/drawingml/2006/main">
              <a:ext uri="{FF2B5EF4-FFF2-40B4-BE49-F238E27FC236}">
                <a16:creationId xmlns:a16="http://schemas.microsoft.com/office/drawing/2014/main" id="{4820EC4C-7E46-4A30-93FB-11219A7A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5260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 state is the product's trust layer</a:t>
            </a:r>
          </a:p>
        </p:txBody>
      </p:sp>
      <p:sp>
        <p:nvSpPr>
          <p:cNvPr id="6" name="reason-num-0">
            <a:extLst xmlns:a="http://schemas.openxmlformats.org/drawingml/2006/main">
              <a:ext uri="{FF2B5EF4-FFF2-40B4-BE49-F238E27FC236}">
                <a16:creationId xmlns:a16="http://schemas.microsoft.com/office/drawing/2014/main" id="{8AB74FFF-CBCD-42A6-87E4-6B9CB664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81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A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EA4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ason-copy-0">
            <a:extLst xmlns:a="http://schemas.openxmlformats.org/drawingml/2006/main">
              <a:ext uri="{FF2B5EF4-FFF2-40B4-BE49-F238E27FC236}">
                <a16:creationId xmlns:a16="http://schemas.microsoft.com/office/drawing/2014/main" id="{DE7376BA-2081-43C6-B3DC-E0BD6B2E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813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Owners can afford periodic heartbeats without turning continuity into a high-fee ritual.</a:t>
            </a:r>
          </a:p>
        </p:txBody>
      </p:sp>
      <p:sp>
        <p:nvSpPr>
          <p:cNvPr id="8" name="reason-num-1">
            <a:extLst xmlns:a="http://schemas.openxmlformats.org/drawingml/2006/main">
              <a:ext uri="{FF2B5EF4-FFF2-40B4-BE49-F238E27FC236}">
                <a16:creationId xmlns:a16="http://schemas.microsoft.com/office/drawing/2014/main" id="{D95084C4-F06A-46D4-8E76-FCB925C3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33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A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EA4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eason-copy-1">
            <a:extLst xmlns:a="http://schemas.openxmlformats.org/drawingml/2006/main">
              <a:ext uri="{FF2B5EF4-FFF2-40B4-BE49-F238E27FC236}">
                <a16:creationId xmlns:a16="http://schemas.microsoft.com/office/drawing/2014/main" id="{6C00049F-0E2A-459A-A4AC-8E56D33D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338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Beneficiaries can verify identity, deadlines, routes, and settlement directly on Base.</a:t>
            </a:r>
          </a:p>
        </p:txBody>
      </p:sp>
      <p:sp>
        <p:nvSpPr>
          <p:cNvPr id="10" name="reason-num-2">
            <a:extLst xmlns:a="http://schemas.openxmlformats.org/drawingml/2006/main">
              <a:ext uri="{FF2B5EF4-FFF2-40B4-BE49-F238E27FC236}">
                <a16:creationId xmlns:a16="http://schemas.microsoft.com/office/drawing/2014/main" id="{CC2E2F21-7677-4CDD-82D7-855CE75A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86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A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EA4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reason-copy-2">
            <a:extLst xmlns:a="http://schemas.openxmlformats.org/drawingml/2006/main">
              <a:ext uri="{FF2B5EF4-FFF2-40B4-BE49-F238E27FC236}">
                <a16:creationId xmlns:a16="http://schemas.microsoft.com/office/drawing/2014/main" id="{2D0A7DFD-594D-43AB-894F-AE33C1B9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863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 Account-compatible UX can reduce seed-phrase friction while contracts remain wallet-agnostic.</a:t>
            </a:r>
          </a:p>
        </p:txBody>
      </p:sp>
      <p:sp>
        <p:nvSpPr>
          <p:cNvPr id="12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AF053190-AC19-40D8-80DF-B4325583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33A"/>
            </a:solidFill>
            <a:prstDash val="solid"/>
          </a:ln>
        </p:spPr>
      </p:sp>
      <p:sp>
        <p:nvSpPr>
          <p:cNvPr id="13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01779A76-CF10-4D82-B9A9-44259FEE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94A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B94A3"/>
                </a:solidFill>
                <a:latin typeface="Arial"/>
                <a:ea typeface="Arial"/>
                <a:cs typeface="Arial"/>
              </a:rPr>
              <a:t>HEIRLOOM · BASE SEPOLIA PROPOSAL</a:t>
            </a:r>
          </a:p>
        </p:txBody>
      </p:sp>
      <p:sp>
        <p:nvSpPr>
          <p:cNvPr id="1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3F85844A-2F5E-49A2-8C82-3EBAFA37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94A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B94A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093026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2865D43E-8673-4A08-BF9B-FAA7D6D2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HEIRLOOM / BASE BUILDER PROPOSAL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9BF2F6-750E-4917-9509-59B3CA0A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The prototype is already verifiable on Base Sepolia</a:t>
            </a:r>
          </a:p>
        </p:txBody>
      </p:sp>
      <p:sp>
        <p:nvSpPr>
          <p:cNvPr id="3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B6173E47-F137-4D7D-9722-5F988FF1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metric-unit-0">
            <a:extLst xmlns:a="http://schemas.openxmlformats.org/drawingml/2006/main">
              <a:ext uri="{FF2B5EF4-FFF2-40B4-BE49-F238E27FC236}">
                <a16:creationId xmlns:a16="http://schemas.microsoft.com/office/drawing/2014/main" id="{F36DB944-E213-4BF4-A2E0-F838211C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USDC</a:t>
            </a:r>
          </a:p>
        </p:txBody>
      </p:sp>
      <p:sp>
        <p:nvSpPr>
          <p:cNvPr id="5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0896AD09-F4B7-44AE-A5EF-62312A3E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9707D"/>
                </a:solidFill>
                <a:latin typeface="Arial"/>
                <a:ea typeface="Arial"/>
                <a:cs typeface="Arial"/>
              </a:rPr>
              <a:t>funded test vault</a:t>
            </a:r>
          </a:p>
        </p:txBody>
      </p:sp>
      <p:sp>
        <p:nvSpPr>
          <p:cNvPr id="6" name="metric-divider-1">
            <a:extLst xmlns:a="http://schemas.openxmlformats.org/drawingml/2006/main">
              <a:ext uri="{FF2B5EF4-FFF2-40B4-BE49-F238E27FC236}">
                <a16:creationId xmlns:a16="http://schemas.microsoft.com/office/drawing/2014/main" id="{A4B421D9-B124-44B2-B4F5-8030B492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809750"/>
            <a:ext cx="0" cy="165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A4D789F1-F40B-4C3B-A3AB-CDC33B94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71450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8" name="metric-unit-1">
            <a:extLst xmlns:a="http://schemas.openxmlformats.org/drawingml/2006/main">
              <a:ext uri="{FF2B5EF4-FFF2-40B4-BE49-F238E27FC236}">
                <a16:creationId xmlns:a16="http://schemas.microsoft.com/office/drawing/2014/main" id="{570303C2-B8A8-4130-B260-1D8646AA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7175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ENTRIES</a:t>
            </a:r>
          </a:p>
        </p:txBody>
      </p:sp>
      <p:sp>
        <p:nvSpPr>
          <p:cNvPr id="9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6CE53E5A-B197-4B6A-B63F-04F87C65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9146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9707D"/>
                </a:solidFill>
                <a:latin typeface="Arial"/>
                <a:ea typeface="Arial"/>
                <a:cs typeface="Arial"/>
              </a:rPr>
              <a:t>core Forge suite</a:t>
            </a:r>
          </a:p>
        </p:txBody>
      </p:sp>
      <p:sp>
        <p:nvSpPr>
          <p:cNvPr id="10" name="metric-divider-2">
            <a:extLst xmlns:a="http://schemas.openxmlformats.org/drawingml/2006/main">
              <a:ext uri="{FF2B5EF4-FFF2-40B4-BE49-F238E27FC236}">
                <a16:creationId xmlns:a16="http://schemas.microsoft.com/office/drawing/2014/main" id="{B11E8CC4-63A3-40F6-9B70-72E2639B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09750"/>
            <a:ext cx="0" cy="165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A1CD690A-2867-40F8-A9CF-D10D6402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500K</a:t>
            </a:r>
          </a:p>
        </p:txBody>
      </p:sp>
      <p:sp>
        <p:nvSpPr>
          <p:cNvPr id="12" name="metric-unit-2">
            <a:extLst xmlns:a="http://schemas.openxmlformats.org/drawingml/2006/main">
              <a:ext uri="{FF2B5EF4-FFF2-40B4-BE49-F238E27FC236}">
                <a16:creationId xmlns:a16="http://schemas.microsoft.com/office/drawing/2014/main" id="{CE6403F9-BB2B-4616-BF6B-F8AAEA7E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CALLS</a:t>
            </a:r>
          </a:p>
        </p:txBody>
      </p:sp>
      <p:sp>
        <p:nvSpPr>
          <p:cNvPr id="13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36112ED6-B1B4-40E2-B821-B996755A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146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9707D"/>
                </a:solidFill>
                <a:latin typeface="Arial"/>
                <a:ea typeface="Arial"/>
                <a:cs typeface="Arial"/>
              </a:rPr>
              <a:t>stateful CI run</a:t>
            </a:r>
          </a:p>
        </p:txBody>
      </p:sp>
      <p:sp>
        <p:nvSpPr>
          <p:cNvPr id="14" name="metric-divider-3">
            <a:extLst xmlns:a="http://schemas.openxmlformats.org/drawingml/2006/main">
              <a:ext uri="{FF2B5EF4-FFF2-40B4-BE49-F238E27FC236}">
                <a16:creationId xmlns:a16="http://schemas.microsoft.com/office/drawing/2014/main" id="{E7A2B40C-60EF-4592-BDB5-F2C86EB4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809750"/>
            <a:ext cx="0" cy="165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5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88CE04F7-8BEF-4AA3-A7C9-6ACCCBD2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1450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16/16</a:t>
            </a:r>
          </a:p>
        </p:txBody>
      </p:sp>
      <p:sp>
        <p:nvSpPr>
          <p:cNvPr id="16" name="metric-unit-3">
            <a:extLst xmlns:a="http://schemas.openxmlformats.org/drawingml/2006/main">
              <a:ext uri="{FF2B5EF4-FFF2-40B4-BE49-F238E27FC236}">
                <a16:creationId xmlns:a16="http://schemas.microsoft.com/office/drawing/2014/main" id="{725E1A79-21BA-4DC8-BB68-D16A5CE8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7175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KILLED</a:t>
            </a:r>
          </a:p>
        </p:txBody>
      </p:sp>
      <p:sp>
        <p:nvSpPr>
          <p:cNvPr id="17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EF90E154-F2F9-442D-A396-31E10794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146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9707D"/>
                </a:solidFill>
                <a:latin typeface="Arial"/>
                <a:ea typeface="Arial"/>
                <a:cs typeface="Arial"/>
              </a:rPr>
              <a:t>source mutants</a:t>
            </a:r>
          </a:p>
        </p:txBody>
      </p:sp>
      <p:sp>
        <p:nvSpPr>
          <p:cNvPr id="18" name="address-band">
            <a:extLst xmlns:a="http://schemas.openxmlformats.org/drawingml/2006/main">
              <a:ext uri="{FF2B5EF4-FFF2-40B4-BE49-F238E27FC236}">
                <a16:creationId xmlns:a16="http://schemas.microsoft.com/office/drawing/2014/main" id="{D247F3C7-3663-476F-B343-B3347B6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0A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ddress-kicker">
            <a:extLst xmlns:a="http://schemas.openxmlformats.org/drawingml/2006/main">
              <a:ext uri="{FF2B5EF4-FFF2-40B4-BE49-F238E27FC236}">
                <a16:creationId xmlns:a16="http://schemas.microsoft.com/office/drawing/2014/main" id="{88861AF9-C599-480E-B77F-43CADA49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A4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A4FF"/>
                </a:solidFill>
                <a:latin typeface="Arial"/>
                <a:ea typeface="Arial"/>
                <a:cs typeface="Arial"/>
              </a:rPr>
              <a:t>ONCHAIN IDENTITY</a:t>
            </a:r>
          </a:p>
        </p:txBody>
      </p:sp>
      <p:sp>
        <p:nvSpPr>
          <p:cNvPr id="20" name="factory-label">
            <a:extLst xmlns:a="http://schemas.openxmlformats.org/drawingml/2006/main">
              <a:ext uri="{FF2B5EF4-FFF2-40B4-BE49-F238E27FC236}">
                <a16:creationId xmlns:a16="http://schemas.microsoft.com/office/drawing/2014/main" id="{560CD070-2619-4353-B6C8-D170132B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Factory</a:t>
            </a:r>
          </a:p>
        </p:txBody>
      </p:sp>
      <p:sp>
        <p:nvSpPr>
          <p:cNvPr id="21" name="factory-address">
            <a:extLst xmlns:a="http://schemas.openxmlformats.org/drawingml/2006/main">
              <a:ext uri="{FF2B5EF4-FFF2-40B4-BE49-F238E27FC236}">
                <a16:creationId xmlns:a16="http://schemas.microsoft.com/office/drawing/2014/main" id="{B160B2D5-CAFB-4F5B-AE17-554F4386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29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B9C0C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9C0CB"/>
                </a:solidFill>
                <a:latin typeface="Arial"/>
                <a:ea typeface="Arial"/>
                <a:cs typeface="Arial"/>
              </a:rPr>
              <a:t>0x935e5101…17f466f4e4</a:t>
            </a:r>
          </a:p>
        </p:txBody>
      </p:sp>
      <p:sp>
        <p:nvSpPr>
          <p:cNvPr id="22" name="vault-label">
            <a:extLst xmlns:a="http://schemas.openxmlformats.org/drawingml/2006/main">
              <a:ext uri="{FF2B5EF4-FFF2-40B4-BE49-F238E27FC236}">
                <a16:creationId xmlns:a16="http://schemas.microsoft.com/office/drawing/2014/main" id="{F52D35C7-2C44-49EB-BBE7-D6228946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Funded vault</a:t>
            </a:r>
          </a:p>
        </p:txBody>
      </p:sp>
      <p:sp>
        <p:nvSpPr>
          <p:cNvPr id="23" name="vault-address">
            <a:extLst xmlns:a="http://schemas.openxmlformats.org/drawingml/2006/main">
              <a:ext uri="{FF2B5EF4-FFF2-40B4-BE49-F238E27FC236}">
                <a16:creationId xmlns:a16="http://schemas.microsoft.com/office/drawing/2014/main" id="{389E67B1-CC7A-46B9-A9C5-0D68587D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67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B9C0C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9C0CB"/>
                </a:solidFill>
                <a:latin typeface="Arial"/>
                <a:ea typeface="Arial"/>
                <a:cs typeface="Arial"/>
              </a:rPr>
              <a:t>0x21ea6A01…65FF6fa371</a:t>
            </a:r>
          </a:p>
        </p:txBody>
      </p:sp>
      <p:sp>
        <p:nvSpPr>
          <p:cNvPr id="24" name="address-divider">
            <a:extLst xmlns:a="http://schemas.openxmlformats.org/drawingml/2006/main">
              <a:ext uri="{FF2B5EF4-FFF2-40B4-BE49-F238E27FC236}">
                <a16:creationId xmlns:a16="http://schemas.microsoft.com/office/drawing/2014/main" id="{6CA91137-2DFD-477A-AA42-DA4017B6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48150"/>
            <a:ext cx="0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840"/>
            </a:solidFill>
            <a:prstDash val="solid"/>
          </a:ln>
        </p:spPr>
      </p:sp>
      <p:sp>
        <p:nvSpPr>
          <p:cNvPr id="25" name="ci-title">
            <a:extLst xmlns:a="http://schemas.openxmlformats.org/drawingml/2006/main">
              <a:ext uri="{FF2B5EF4-FFF2-40B4-BE49-F238E27FC236}">
                <a16:creationId xmlns:a16="http://schemas.microsoft.com/office/drawing/2014/main" id="{3458FE31-F642-45FD-9D4E-C476C234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815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Hosted release evidence</a:t>
            </a:r>
          </a:p>
        </p:txBody>
      </p:sp>
      <p:sp>
        <p:nvSpPr>
          <p:cNvPr id="26" name="ci-body">
            <a:extLst xmlns:a="http://schemas.openxmlformats.org/drawingml/2006/main">
              <a:ext uri="{FF2B5EF4-FFF2-40B4-BE49-F238E27FC236}">
                <a16:creationId xmlns:a16="http://schemas.microsoft.com/office/drawing/2014/main" id="{F7F66937-BD55-42A6-AD0F-CD00DC62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577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B9C0C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9C0CB"/>
                </a:solidFill>
                <a:latin typeface="Arial"/>
                <a:ea typeface="Arial"/>
                <a:cs typeface="Arial"/>
              </a:rPr>
              <a:t>4/4 jobs passed · protocol/gas · Base USDC fork · mutations · web</a:t>
            </a:r>
          </a:p>
        </p:txBody>
      </p:sp>
      <p:sp>
        <p:nvSpPr>
          <p:cNvPr id="27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540DC5BE-C433-4E98-9833-8C7644ED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8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8EC5B449-8C64-41AF-80BD-633BF07E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9707D"/>
                </a:solidFill>
                <a:latin typeface="Arial"/>
                <a:ea typeface="Arial"/>
                <a:cs typeface="Arial"/>
              </a:rPr>
              <a:t>HEIRLOOM · BASE SEPOLIA PROPOSAL</a:t>
            </a:r>
          </a:p>
        </p:txBody>
      </p:sp>
      <p:sp>
        <p:nvSpPr>
          <p:cNvPr id="29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058BF5D2-BA1A-4CAA-A3A9-BB2FCE4C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970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1107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10C8FE2F-B854-4E1E-B6F8-1CFC5945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HEIRLOOM / BASE BUILDER PROPOSAL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B7446C-DE72-485A-BAE7-ED73E2B9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Security claims are bounded—and testable</a:t>
            </a:r>
          </a:p>
        </p:txBody>
      </p:sp>
      <p:sp>
        <p:nvSpPr>
          <p:cNvPr id="3" name="guarantees-kicker">
            <a:extLst xmlns:a="http://schemas.openxmlformats.org/drawingml/2006/main">
              <a:ext uri="{FF2B5EF4-FFF2-40B4-BE49-F238E27FC236}">
                <a16:creationId xmlns:a16="http://schemas.microsoft.com/office/drawing/2014/main" id="{52898B82-91DE-4D94-BE49-B3690DE7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86B"/>
                </a:solidFill>
                <a:latin typeface="Arial"/>
                <a:ea typeface="Arial"/>
                <a:cs typeface="Arial"/>
              </a:rPr>
              <a:t>WHAT THE CONTRACT GUARANTEES</a:t>
            </a:r>
          </a:p>
        </p:txBody>
      </p:sp>
      <p:sp>
        <p:nvSpPr>
          <p:cNvPr id="4" name="check-0">
            <a:extLst xmlns:a="http://schemas.openxmlformats.org/drawingml/2006/main">
              <a:ext uri="{FF2B5EF4-FFF2-40B4-BE49-F238E27FC236}">
                <a16:creationId xmlns:a16="http://schemas.microsoft.com/office/drawing/2014/main" id="{70536895-725D-42DF-B878-F4F2DCCE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0"/>
          </a:solidFill>
          <a:ln xmlns:a="http://schemas.openxmlformats.org/drawingml/2006/main" w="0">
            <a:solidFill>
              <a:srgbClr val="E6F8F0"/>
            </a:solidFill>
            <a:prstDash val="solid"/>
          </a:ln>
        </p:spPr>
      </p:sp>
      <p:sp>
        <p:nvSpPr>
          <p:cNvPr id="5" name="check-mark-0">
            <a:extLst xmlns:a="http://schemas.openxmlformats.org/drawingml/2006/main">
              <a:ext uri="{FF2B5EF4-FFF2-40B4-BE49-F238E27FC236}">
                <a16:creationId xmlns:a16="http://schemas.microsoft.com/office/drawing/2014/main" id="{812F2F81-E758-448F-A8F5-B5EB3B3F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A8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86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" name="guarantee-0">
            <a:extLst xmlns:a="http://schemas.openxmlformats.org/drawingml/2006/main">
              <a:ext uri="{FF2B5EF4-FFF2-40B4-BE49-F238E27FC236}">
                <a16:creationId xmlns:a16="http://schemas.microsoft.com/office/drawing/2014/main" id="{E805C5FD-177B-46C2-AC81-95674181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7170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Only fresh owner authorization creates liveness</a:t>
            </a:r>
          </a:p>
        </p:txBody>
      </p:sp>
      <p:sp>
        <p:nvSpPr>
          <p:cNvPr id="7" name="check-1">
            <a:extLst xmlns:a="http://schemas.openxmlformats.org/drawingml/2006/main">
              <a:ext uri="{FF2B5EF4-FFF2-40B4-BE49-F238E27FC236}">
                <a16:creationId xmlns:a16="http://schemas.microsoft.com/office/drawing/2014/main" id="{FEF964A6-7ABD-41F0-8CA7-32271920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24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0"/>
          </a:solidFill>
          <a:ln xmlns:a="http://schemas.openxmlformats.org/drawingml/2006/main" w="0">
            <a:solidFill>
              <a:srgbClr val="E6F8F0"/>
            </a:solidFill>
            <a:prstDash val="solid"/>
          </a:ln>
        </p:spPr>
      </p:sp>
      <p:sp>
        <p:nvSpPr>
          <p:cNvPr id="8" name="check-mark-1">
            <a:extLst xmlns:a="http://schemas.openxmlformats.org/drawingml/2006/main">
              <a:ext uri="{FF2B5EF4-FFF2-40B4-BE49-F238E27FC236}">
                <a16:creationId xmlns:a16="http://schemas.microsoft.com/office/drawing/2014/main" id="{7C3022A2-44F8-46AC-8D9E-1E928BCD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A8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86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guarantee-1">
            <a:extLst xmlns:a="http://schemas.openxmlformats.org/drawingml/2006/main">
              <a:ext uri="{FF2B5EF4-FFF2-40B4-BE49-F238E27FC236}">
                <a16:creationId xmlns:a16="http://schemas.microsoft.com/office/drawing/2014/main" id="{01088099-6E84-44A3-A093-40107293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Executors cannot aim or resize payouts</a:t>
            </a:r>
          </a:p>
        </p:txBody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38B7A3CA-0DE9-4194-BD7E-C8673705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0"/>
          </a:solidFill>
          <a:ln xmlns:a="http://schemas.openxmlformats.org/drawingml/2006/main" w="0">
            <a:solidFill>
              <a:srgbClr val="E6F8F0"/>
            </a:solidFill>
            <a:prstDash val="solid"/>
          </a:ln>
        </p:spPr>
      </p:sp>
      <p:sp>
        <p:nvSpPr>
          <p:cNvPr id="11" name="check-mark-2">
            <a:extLst xmlns:a="http://schemas.openxmlformats.org/drawingml/2006/main">
              <a:ext uri="{FF2B5EF4-FFF2-40B4-BE49-F238E27FC236}">
                <a16:creationId xmlns:a16="http://schemas.microsoft.com/office/drawing/2014/main" id="{1B15014B-9813-456E-8575-F605BAAE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A8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86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guarantee-2">
            <a:extLst xmlns:a="http://schemas.openxmlformats.org/drawingml/2006/main">
              <a:ext uri="{FF2B5EF4-FFF2-40B4-BE49-F238E27FC236}">
                <a16:creationId xmlns:a16="http://schemas.microsoft.com/office/drawing/2014/main" id="{AD0EC670-3304-4356-9041-3D0F5AA1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Time derives exactly one valid destination phase</a:t>
            </a:r>
          </a:p>
        </p:txBody>
      </p:sp>
      <p:sp>
        <p:nvSpPr>
          <p:cNvPr id="13" name="check-3">
            <a:extLst xmlns:a="http://schemas.openxmlformats.org/drawingml/2006/main">
              <a:ext uri="{FF2B5EF4-FFF2-40B4-BE49-F238E27FC236}">
                <a16:creationId xmlns:a16="http://schemas.microsoft.com/office/drawing/2014/main" id="{33BAE298-5BE6-4226-B8F8-F856F97F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0"/>
          </a:solidFill>
          <a:ln xmlns:a="http://schemas.openxmlformats.org/drawingml/2006/main" w="0">
            <a:solidFill>
              <a:srgbClr val="E6F8F0"/>
            </a:solidFill>
            <a:prstDash val="solid"/>
          </a:ln>
        </p:spPr>
      </p:sp>
      <p:sp>
        <p:nvSpPr>
          <p:cNvPr id="14" name="check-mark-3">
            <a:extLst xmlns:a="http://schemas.openxmlformats.org/drawingml/2006/main">
              <a:ext uri="{FF2B5EF4-FFF2-40B4-BE49-F238E27FC236}">
                <a16:creationId xmlns:a16="http://schemas.microsoft.com/office/drawing/2014/main" id="{1BD550A4-1134-4CD8-9B90-95BF4FAB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A8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86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guarantee-3">
            <a:extLst xmlns:a="http://schemas.openxmlformats.org/drawingml/2006/main">
              <a:ext uri="{FF2B5EF4-FFF2-40B4-BE49-F238E27FC236}">
                <a16:creationId xmlns:a16="http://schemas.microsoft.com/office/drawing/2014/main" id="{D09E7F97-09BC-4157-B5D1-A0E9933B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005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Terminal settlement happens last and once</a:t>
            </a:r>
          </a:p>
        </p:txBody>
      </p:sp>
      <p:sp>
        <p:nvSpPr>
          <p:cNvPr id="16" name="security-divider">
            <a:extLst xmlns:a="http://schemas.openxmlformats.org/drawingml/2006/main">
              <a:ext uri="{FF2B5EF4-FFF2-40B4-BE49-F238E27FC236}">
                <a16:creationId xmlns:a16="http://schemas.microsoft.com/office/drawing/2014/main" id="{3D3C6E46-3BAB-4204-8A57-0913D349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573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5"/>
            </a:solidFill>
            <a:prstDash val="solid"/>
          </a:ln>
        </p:spPr>
      </p:sp>
      <p:sp>
        <p:nvSpPr>
          <p:cNvPr id="17" name="limits-kicker">
            <a:extLst xmlns:a="http://schemas.openxmlformats.org/drawingml/2006/main">
              <a:ext uri="{FF2B5EF4-FFF2-40B4-BE49-F238E27FC236}">
                <a16:creationId xmlns:a16="http://schemas.microsoft.com/office/drawing/2014/main" id="{B8152487-9B10-4481-AC1C-AFAE4A41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48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485F"/>
                </a:solidFill>
                <a:latin typeface="Arial"/>
                <a:ea typeface="Arial"/>
                <a:cs typeface="Arial"/>
              </a:rPr>
              <a:t>WHAT HEIRLOOM NEVER CLAIMS</a:t>
            </a:r>
          </a:p>
        </p:txBody>
      </p:sp>
      <p:sp>
        <p:nvSpPr>
          <p:cNvPr id="18" name="limit-dot-0">
            <a:extLst xmlns:a="http://schemas.openxmlformats.org/drawingml/2006/main">
              <a:ext uri="{FF2B5EF4-FFF2-40B4-BE49-F238E27FC236}">
                <a16:creationId xmlns:a16="http://schemas.microsoft.com/office/drawing/2014/main" id="{E586701D-E5EB-40BE-8EEE-E98D0CA4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28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8EC"/>
          </a:solidFill>
          <a:ln xmlns:a="http://schemas.openxmlformats.org/drawingml/2006/main" w="0">
            <a:solidFill>
              <a:srgbClr val="FBE8EC"/>
            </a:solidFill>
            <a:prstDash val="solid"/>
          </a:ln>
        </p:spPr>
      </p:sp>
      <p:sp>
        <p:nvSpPr>
          <p:cNvPr id="19" name="limit-0">
            <a:extLst xmlns:a="http://schemas.openxmlformats.org/drawingml/2006/main">
              <a:ext uri="{FF2B5EF4-FFF2-40B4-BE49-F238E27FC236}">
                <a16:creationId xmlns:a16="http://schemas.microsoft.com/office/drawing/2014/main" id="{31DBE826-5C15-4FB5-BE71-EF139480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717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9707D"/>
                </a:solidFill>
                <a:latin typeface="Arial"/>
                <a:ea typeface="Arial"/>
                <a:cs typeface="Arial"/>
              </a:rPr>
              <a:t>It cannot detect death, incapacity, or key loss</a:t>
            </a:r>
          </a:p>
        </p:txBody>
      </p:sp>
      <p:sp>
        <p:nvSpPr>
          <p:cNvPr id="20" name="limit-dot-1">
            <a:extLst xmlns:a="http://schemas.openxmlformats.org/drawingml/2006/main">
              <a:ext uri="{FF2B5EF4-FFF2-40B4-BE49-F238E27FC236}">
                <a16:creationId xmlns:a16="http://schemas.microsoft.com/office/drawing/2014/main" id="{26FEA4C9-3BB8-45F1-9EFC-0FA2150C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71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8EC"/>
          </a:solidFill>
          <a:ln xmlns:a="http://schemas.openxmlformats.org/drawingml/2006/main" w="0">
            <a:solidFill>
              <a:srgbClr val="FBE8EC"/>
            </a:solidFill>
            <a:prstDash val="solid"/>
          </a:ln>
        </p:spPr>
      </p:sp>
      <p:sp>
        <p:nvSpPr>
          <p:cNvPr id="21" name="limit-1">
            <a:extLst xmlns:a="http://schemas.openxmlformats.org/drawingml/2006/main">
              <a:ext uri="{FF2B5EF4-FFF2-40B4-BE49-F238E27FC236}">
                <a16:creationId xmlns:a16="http://schemas.microsoft.com/office/drawing/2014/main" id="{DF8C674F-0FBB-4CF3-B9BC-BD463CE5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146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9707D"/>
                </a:solidFill>
                <a:latin typeface="Arial"/>
                <a:ea typeface="Arial"/>
                <a:cs typeface="Arial"/>
              </a:rPr>
              <a:t>It cannot neutralize Circle pause or blacklist controls</a:t>
            </a:r>
          </a:p>
        </p:txBody>
      </p:sp>
      <p:sp>
        <p:nvSpPr>
          <p:cNvPr id="22" name="limit-dot-2">
            <a:extLst xmlns:a="http://schemas.openxmlformats.org/drawingml/2006/main">
              <a:ext uri="{FF2B5EF4-FFF2-40B4-BE49-F238E27FC236}">
                <a16:creationId xmlns:a16="http://schemas.microsoft.com/office/drawing/2014/main" id="{C7821D96-DACC-4D2A-ACAB-19CFC87B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8EC"/>
          </a:solidFill>
          <a:ln xmlns:a="http://schemas.openxmlformats.org/drawingml/2006/main" w="0">
            <a:solidFill>
              <a:srgbClr val="FBE8EC"/>
            </a:solidFill>
            <a:prstDash val="solid"/>
          </a:ln>
        </p:spPr>
      </p:sp>
      <p:sp>
        <p:nvSpPr>
          <p:cNvPr id="23" name="limit-2">
            <a:extLst xmlns:a="http://schemas.openxmlformats.org/drawingml/2006/main">
              <a:ext uri="{FF2B5EF4-FFF2-40B4-BE49-F238E27FC236}">
                <a16:creationId xmlns:a16="http://schemas.microsoft.com/office/drawing/2014/main" id="{76BA40B4-8265-4ECD-9875-4AD74EE8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9707D"/>
                </a:solidFill>
                <a:latin typeface="Arial"/>
                <a:ea typeface="Arial"/>
                <a:cs typeface="Arial"/>
              </a:rPr>
              <a:t>It does not guarantee someone will pay execution gas</a:t>
            </a:r>
          </a:p>
        </p:txBody>
      </p:sp>
      <p:sp>
        <p:nvSpPr>
          <p:cNvPr id="24" name="limit-dot-3">
            <a:extLst xmlns:a="http://schemas.openxmlformats.org/drawingml/2006/main">
              <a:ext uri="{FF2B5EF4-FFF2-40B4-BE49-F238E27FC236}">
                <a16:creationId xmlns:a16="http://schemas.microsoft.com/office/drawing/2014/main" id="{CB5AF7DC-B59F-4153-AA4A-31568566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8EC"/>
          </a:solidFill>
          <a:ln xmlns:a="http://schemas.openxmlformats.org/drawingml/2006/main" w="0">
            <a:solidFill>
              <a:srgbClr val="FBE8EC"/>
            </a:solidFill>
            <a:prstDash val="solid"/>
          </a:ln>
        </p:spPr>
      </p:sp>
      <p:sp>
        <p:nvSpPr>
          <p:cNvPr id="25" name="limit-3">
            <a:extLst xmlns:a="http://schemas.openxmlformats.org/drawingml/2006/main">
              <a:ext uri="{FF2B5EF4-FFF2-40B4-BE49-F238E27FC236}">
                <a16:creationId xmlns:a16="http://schemas.microsoft.com/office/drawing/2014/main" id="{11872EFD-E58A-41D4-B4D5-4C0DD563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005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9707D"/>
                </a:solidFill>
                <a:latin typeface="Arial"/>
                <a:ea typeface="Arial"/>
                <a:cs typeface="Arial"/>
              </a:rPr>
              <a:t>Testnet proof is not public-mainnet approval</a:t>
            </a:r>
          </a:p>
        </p:txBody>
      </p:sp>
      <p:sp>
        <p:nvSpPr>
          <p:cNvPr id="26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5B52D974-29DB-40F8-9BA8-2C35965B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7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7183FEA2-A299-491B-9956-1F1ECD18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9707D"/>
                </a:solidFill>
                <a:latin typeface="Arial"/>
                <a:ea typeface="Arial"/>
                <a:cs typeface="Arial"/>
              </a:rPr>
              <a:t>HEIRLOOM · BASE SEPOLIA PROPOSAL</a:t>
            </a:r>
          </a:p>
        </p:txBody>
      </p:sp>
      <p:sp>
        <p:nvSpPr>
          <p:cNvPr id="28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BF446116-FC65-43C1-AE16-CCBCA3A5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970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59971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9D4C7745-D343-4870-9516-C3209B91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HEIRLOOM / BASE BUILDER PROPOSAL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E9E0C6-9B54-47D6-90DB-6FE9F67F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Grant support converts engineering proof into user evidence</a:t>
            </a:r>
          </a:p>
        </p:txBody>
      </p:sp>
      <p:sp>
        <p:nvSpPr>
          <p:cNvPr id="3" name="plan-line">
            <a:extLst xmlns:a="http://schemas.openxmlformats.org/drawingml/2006/main">
              <a:ext uri="{FF2B5EF4-FFF2-40B4-BE49-F238E27FC236}">
                <a16:creationId xmlns:a16="http://schemas.microsoft.com/office/drawing/2014/main" id="{D0256BC9-FFA8-4E48-8C83-757BAC48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432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9DDE5"/>
            </a:solidFill>
            <a:prstDash val="solid"/>
          </a:ln>
        </p:spPr>
      </p:sp>
      <p:sp>
        <p:nvSpPr>
          <p:cNvPr id="4" name="phase-circle-0">
            <a:extLst xmlns:a="http://schemas.openxmlformats.org/drawingml/2006/main">
              <a:ext uri="{FF2B5EF4-FFF2-40B4-BE49-F238E27FC236}">
                <a16:creationId xmlns:a16="http://schemas.microsoft.com/office/drawing/2014/main" id="{E6AEF772-769F-450F-9C0D-4349B126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2FF"/>
          </a:solidFill>
          <a:ln xmlns:a="http://schemas.openxmlformats.org/drawingml/2006/main" w="28575">
            <a:solidFill>
              <a:srgbClr val="0052FF"/>
            </a:solidFill>
            <a:prstDash val="solid"/>
          </a:ln>
        </p:spPr>
      </p:sp>
      <p:sp>
        <p:nvSpPr>
          <p:cNvPr id="5" name="phase-num-0">
            <a:extLst xmlns:a="http://schemas.openxmlformats.org/drawingml/2006/main">
              <a:ext uri="{FF2B5EF4-FFF2-40B4-BE49-F238E27FC236}">
                <a16:creationId xmlns:a16="http://schemas.microsoft.com/office/drawing/2014/main" id="{9CD7F9AD-64F9-4471-9EF0-9A62D91B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384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phase-label-0">
            <a:extLst xmlns:a="http://schemas.openxmlformats.org/drawingml/2006/main">
              <a:ext uri="{FF2B5EF4-FFF2-40B4-BE49-F238E27FC236}">
                <a16:creationId xmlns:a16="http://schemas.microsoft.com/office/drawing/2014/main" id="{7A9BFE64-36F9-4D07-AFD5-9FE15A36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PUBLIC ACCESS</a:t>
            </a:r>
          </a:p>
        </p:txBody>
      </p:sp>
      <p:sp>
        <p:nvSpPr>
          <p:cNvPr id="7" name="phase-copy-0">
            <a:extLst xmlns:a="http://schemas.openxmlformats.org/drawingml/2006/main">
              <a:ext uri="{FF2B5EF4-FFF2-40B4-BE49-F238E27FC236}">
                <a16:creationId xmlns:a16="http://schemas.microsoft.com/office/drawing/2014/main" id="{3615FA63-2C21-45BA-A6FE-EABD278F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957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Open reviewer demo</a:t>
            </a:r>
          </a:p>
        </p:txBody>
      </p:sp>
      <p:sp>
        <p:nvSpPr>
          <p:cNvPr id="8" name="phase-circle-1">
            <a:extLst xmlns:a="http://schemas.openxmlformats.org/drawingml/2006/main">
              <a:ext uri="{FF2B5EF4-FFF2-40B4-BE49-F238E27FC236}">
                <a16:creationId xmlns:a16="http://schemas.microsoft.com/office/drawing/2014/main" id="{7505CAF9-4D4A-44B7-B1BB-22EA8E9B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76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DDE5"/>
            </a:solidFill>
            <a:prstDash val="solid"/>
          </a:ln>
        </p:spPr>
      </p:sp>
      <p:sp>
        <p:nvSpPr>
          <p:cNvPr id="9" name="phase-num-1">
            <a:extLst xmlns:a="http://schemas.openxmlformats.org/drawingml/2006/main">
              <a:ext uri="{FF2B5EF4-FFF2-40B4-BE49-F238E27FC236}">
                <a16:creationId xmlns:a16="http://schemas.microsoft.com/office/drawing/2014/main" id="{E225ACF0-0261-4F24-83CB-151B9AC6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384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hase-label-1">
            <a:extLst xmlns:a="http://schemas.openxmlformats.org/drawingml/2006/main">
              <a:ext uri="{FF2B5EF4-FFF2-40B4-BE49-F238E27FC236}">
                <a16:creationId xmlns:a16="http://schemas.microsoft.com/office/drawing/2014/main" id="{68011196-95EC-4EC7-8544-D4685512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338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ONBOARDING</a:t>
            </a:r>
          </a:p>
        </p:txBody>
      </p:sp>
      <p:sp>
        <p:nvSpPr>
          <p:cNvPr id="11" name="phase-copy-1">
            <a:extLst xmlns:a="http://schemas.openxmlformats.org/drawingml/2006/main">
              <a:ext uri="{FF2B5EF4-FFF2-40B4-BE49-F238E27FC236}">
                <a16:creationId xmlns:a16="http://schemas.microsoft.com/office/drawing/2014/main" id="{8E24592A-6B4C-4A84-B7A7-DA9D9196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957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Passkey-ready setup</a:t>
            </a:r>
          </a:p>
        </p:txBody>
      </p:sp>
      <p:sp>
        <p:nvSpPr>
          <p:cNvPr id="12" name="phase-circle-2">
            <a:extLst xmlns:a="http://schemas.openxmlformats.org/drawingml/2006/main">
              <a:ext uri="{FF2B5EF4-FFF2-40B4-BE49-F238E27FC236}">
                <a16:creationId xmlns:a16="http://schemas.microsoft.com/office/drawing/2014/main" id="{37F8247E-E875-4DB2-B658-F46F89C9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76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DDE5"/>
            </a:solidFill>
            <a:prstDash val="solid"/>
          </a:ln>
        </p:spPr>
      </p:sp>
      <p:sp>
        <p:nvSpPr>
          <p:cNvPr id="13" name="phase-num-2">
            <a:extLst xmlns:a="http://schemas.openxmlformats.org/drawingml/2006/main">
              <a:ext uri="{FF2B5EF4-FFF2-40B4-BE49-F238E27FC236}">
                <a16:creationId xmlns:a16="http://schemas.microsoft.com/office/drawing/2014/main" id="{B4217E0B-100C-4AD0-A7FD-0E159A4E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384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phase-label-2">
            <a:extLst xmlns:a="http://schemas.openxmlformats.org/drawingml/2006/main">
              <a:ext uri="{FF2B5EF4-FFF2-40B4-BE49-F238E27FC236}">
                <a16:creationId xmlns:a16="http://schemas.microsoft.com/office/drawing/2014/main" id="{B1642F89-9819-49A5-9856-979A19C4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338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15" name="phase-copy-2">
            <a:extLst xmlns:a="http://schemas.openxmlformats.org/drawingml/2006/main">
              <a:ext uri="{FF2B5EF4-FFF2-40B4-BE49-F238E27FC236}">
                <a16:creationId xmlns:a16="http://schemas.microsoft.com/office/drawing/2014/main" id="{25E56DC8-6799-4E3B-8005-D3C711FA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Opt-in testnet users</a:t>
            </a:r>
          </a:p>
        </p:txBody>
      </p:sp>
      <p:sp>
        <p:nvSpPr>
          <p:cNvPr id="16" name="phase-circle-3">
            <a:extLst xmlns:a="http://schemas.openxmlformats.org/drawingml/2006/main">
              <a:ext uri="{FF2B5EF4-FFF2-40B4-BE49-F238E27FC236}">
                <a16:creationId xmlns:a16="http://schemas.microsoft.com/office/drawing/2014/main" id="{47F0AF18-CD2B-40BD-847C-042D8E03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76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DDE5"/>
            </a:solidFill>
            <a:prstDash val="solid"/>
          </a:ln>
        </p:spPr>
      </p:sp>
      <p:sp>
        <p:nvSpPr>
          <p:cNvPr id="17" name="phase-num-3">
            <a:extLst xmlns:a="http://schemas.openxmlformats.org/drawingml/2006/main">
              <a:ext uri="{FF2B5EF4-FFF2-40B4-BE49-F238E27FC236}">
                <a16:creationId xmlns:a16="http://schemas.microsoft.com/office/drawing/2014/main" id="{9CE99516-FCBD-4116-8F65-8FFDD6D9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384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phase-label-3">
            <a:extLst xmlns:a="http://schemas.openxmlformats.org/drawingml/2006/main">
              <a:ext uri="{FF2B5EF4-FFF2-40B4-BE49-F238E27FC236}">
                <a16:creationId xmlns:a16="http://schemas.microsoft.com/office/drawing/2014/main" id="{F01E75AF-44CE-4853-AD08-98F86D40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338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LEARNINGS</a:t>
            </a:r>
          </a:p>
        </p:txBody>
      </p:sp>
      <p:sp>
        <p:nvSpPr>
          <p:cNvPr id="19" name="phase-copy-3">
            <a:extLst xmlns:a="http://schemas.openxmlformats.org/drawingml/2006/main">
              <a:ext uri="{FF2B5EF4-FFF2-40B4-BE49-F238E27FC236}">
                <a16:creationId xmlns:a16="http://schemas.microsoft.com/office/drawing/2014/main" id="{4F943194-8C29-4C25-8510-91637733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957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Publish measured results</a:t>
            </a:r>
          </a:p>
        </p:txBody>
      </p:sp>
      <p:sp>
        <p:nvSpPr>
          <p:cNvPr id="20" name="plan-callout">
            <a:extLst xmlns:a="http://schemas.openxmlformats.org/drawingml/2006/main">
              <a:ext uri="{FF2B5EF4-FFF2-40B4-BE49-F238E27FC236}">
                <a16:creationId xmlns:a16="http://schemas.microsoft.com/office/drawing/2014/main" id="{757BF70D-8F2B-4D15-9313-D1AA7A73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57800"/>
            <a:ext cx="7429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lan-callout-text">
            <a:extLst xmlns:a="http://schemas.openxmlformats.org/drawingml/2006/main">
              <a:ext uri="{FF2B5EF4-FFF2-40B4-BE49-F238E27FC236}">
                <a16:creationId xmlns:a16="http://schemas.microsoft.com/office/drawing/2014/main" id="{89719B49-A3B2-41D0-8CD3-9542FF54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292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Measure vault creation, funded testnet usage, comprehension, and completed walkthroughs—never invent traction.</a:t>
            </a:r>
          </a:p>
        </p:txBody>
      </p:sp>
      <p:sp>
        <p:nvSpPr>
          <p:cNvPr id="22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BFB9DE78-F0D9-4C79-9083-C43CF08F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3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2F0452D4-6958-4843-B39B-959C9001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9707D"/>
                </a:solidFill>
                <a:latin typeface="Arial"/>
                <a:ea typeface="Arial"/>
                <a:cs typeface="Arial"/>
              </a:rPr>
              <a:t>HEIRLOOM · BASE SEPOLIA PROPOSAL</a:t>
            </a:r>
          </a:p>
        </p:txBody>
      </p:sp>
      <p:sp>
        <p:nvSpPr>
          <p:cNvPr id="24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C3A0587C-A283-4845-A2F6-07ED3D41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970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724842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F54131E9-C905-4775-BEDA-FA9A3E53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A4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A4FF"/>
                </a:solidFill>
                <a:latin typeface="Arial"/>
                <a:ea typeface="Arial"/>
                <a:cs typeface="Arial"/>
              </a:rPr>
              <a:t>ONE-MINUTE DEMO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851411-5162-4C7F-8728-8E370727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reviewer can verify Heirloom in one minute</a:t>
            </a:r>
          </a:p>
        </p:txBody>
      </p:sp>
      <p:sp>
        <p:nvSpPr>
          <p:cNvPr id="3" name="demo-time-0">
            <a:extLst xmlns:a="http://schemas.openxmlformats.org/drawingml/2006/main">
              <a:ext uri="{FF2B5EF4-FFF2-40B4-BE49-F238E27FC236}">
                <a16:creationId xmlns:a16="http://schemas.microsoft.com/office/drawing/2014/main" id="{CE7C5CF3-7621-42FD-8AB5-9ADE7BC2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2954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005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mo-time-copy-0">
            <a:extLst xmlns:a="http://schemas.openxmlformats.org/drawingml/2006/main">
              <a:ext uri="{FF2B5EF4-FFF2-40B4-BE49-F238E27FC236}">
                <a16:creationId xmlns:a16="http://schemas.microsoft.com/office/drawing/2014/main" id="{4AD6D42D-6F23-4007-AF7B-3B976F79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00–17s</a:t>
            </a:r>
          </a:p>
        </p:txBody>
      </p:sp>
      <p:sp>
        <p:nvSpPr>
          <p:cNvPr id="5" name="demo-label-0">
            <a:extLst xmlns:a="http://schemas.openxmlformats.org/drawingml/2006/main">
              <a:ext uri="{FF2B5EF4-FFF2-40B4-BE49-F238E27FC236}">
                <a16:creationId xmlns:a16="http://schemas.microsoft.com/office/drawing/2014/main" id="{49E8312F-EFA9-4F5C-A499-F979DD28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695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EA4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EA4FF"/>
                </a:solidFill>
                <a:latin typeface="Arial"/>
                <a:ea typeface="Arial"/>
                <a:cs typeface="Arial"/>
              </a:rPr>
              <a:t>PROBLEM + CONNECT</a:t>
            </a:r>
          </a:p>
        </p:txBody>
      </p:sp>
      <p:sp>
        <p:nvSpPr>
          <p:cNvPr id="6" name="demo-copy-0">
            <a:extLst xmlns:a="http://schemas.openxmlformats.org/drawingml/2006/main">
              <a:ext uri="{FF2B5EF4-FFF2-40B4-BE49-F238E27FC236}">
                <a16:creationId xmlns:a16="http://schemas.microsoft.com/office/drawing/2014/main" id="{FD0F5BF0-9456-4DA3-AD6A-3F23D345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81200"/>
            <a:ext cx="521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 Base Sepolia and owner control</a:t>
            </a:r>
          </a:p>
        </p:txBody>
      </p:sp>
      <p:sp>
        <p:nvSpPr>
          <p:cNvPr id="7" name="demo-time-1">
            <a:extLst xmlns:a="http://schemas.openxmlformats.org/drawingml/2006/main">
              <a:ext uri="{FF2B5EF4-FFF2-40B4-BE49-F238E27FC236}">
                <a16:creationId xmlns:a16="http://schemas.microsoft.com/office/drawing/2014/main" id="{E140B5C1-7D87-437F-99B8-FC4F3C00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12954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252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time-copy-1">
            <a:extLst xmlns:a="http://schemas.openxmlformats.org/drawingml/2006/main">
              <a:ext uri="{FF2B5EF4-FFF2-40B4-BE49-F238E27FC236}">
                <a16:creationId xmlns:a16="http://schemas.microsoft.com/office/drawing/2014/main" id="{6DA069E0-1C52-49F0-AEF2-C012524A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17–41s</a:t>
            </a:r>
          </a:p>
        </p:txBody>
      </p:sp>
      <p:sp>
        <p:nvSpPr>
          <p:cNvPr id="9" name="demo-label-1">
            <a:extLst xmlns:a="http://schemas.openxmlformats.org/drawingml/2006/main">
              <a:ext uri="{FF2B5EF4-FFF2-40B4-BE49-F238E27FC236}">
                <a16:creationId xmlns:a16="http://schemas.microsoft.com/office/drawing/2014/main" id="{130B6644-57D5-424A-9B39-206A928E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86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EA4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EA4FF"/>
                </a:solidFill>
                <a:latin typeface="Arial"/>
                <a:ea typeface="Arial"/>
                <a:cs typeface="Arial"/>
              </a:rPr>
              <a:t>FUNDED VAULT</a:t>
            </a:r>
          </a:p>
        </p:txBody>
      </p:sp>
      <p:sp>
        <p:nvSpPr>
          <p:cNvPr id="10" name="demo-copy-1">
            <a:extLst xmlns:a="http://schemas.openxmlformats.org/drawingml/2006/main">
              <a:ext uri="{FF2B5EF4-FFF2-40B4-BE49-F238E27FC236}">
                <a16:creationId xmlns:a16="http://schemas.microsoft.com/office/drawing/2014/main" id="{1F959121-7E67-4052-9F1E-E904D112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71800"/>
            <a:ext cx="521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20 USDC, routes, guardians, deadlines</a:t>
            </a:r>
          </a:p>
        </p:txBody>
      </p:sp>
      <p:sp>
        <p:nvSpPr>
          <p:cNvPr id="11" name="demo-time-2">
            <a:extLst xmlns:a="http://schemas.openxmlformats.org/drawingml/2006/main">
              <a:ext uri="{FF2B5EF4-FFF2-40B4-BE49-F238E27FC236}">
                <a16:creationId xmlns:a16="http://schemas.microsoft.com/office/drawing/2014/main" id="{7C9597EF-5306-44BE-807D-FEFAB52D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12954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252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mo-time-copy-2">
            <a:extLst xmlns:a="http://schemas.openxmlformats.org/drawingml/2006/main">
              <a:ext uri="{FF2B5EF4-FFF2-40B4-BE49-F238E27FC236}">
                <a16:creationId xmlns:a16="http://schemas.microsoft.com/office/drawing/2014/main" id="{8D15E266-A12A-4113-82F9-9D5AA49E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41–57s</a:t>
            </a:r>
          </a:p>
        </p:txBody>
      </p:sp>
      <p:sp>
        <p:nvSpPr>
          <p:cNvPr id="13" name="demo-label-2">
            <a:extLst xmlns:a="http://schemas.openxmlformats.org/drawingml/2006/main">
              <a:ext uri="{FF2B5EF4-FFF2-40B4-BE49-F238E27FC236}">
                <a16:creationId xmlns:a16="http://schemas.microsoft.com/office/drawing/2014/main" id="{DF08527E-3AB0-49B7-B850-5C9938E6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76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EA4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EA4FF"/>
                </a:solidFill>
                <a:latin typeface="Arial"/>
                <a:ea typeface="Arial"/>
                <a:cs typeface="Arial"/>
              </a:rPr>
              <a:t>SECURITY + PROOF</a:t>
            </a:r>
          </a:p>
        </p:txBody>
      </p:sp>
      <p:sp>
        <p:nvSpPr>
          <p:cNvPr id="14" name="demo-copy-2">
            <a:extLst xmlns:a="http://schemas.openxmlformats.org/drawingml/2006/main">
              <a:ext uri="{FF2B5EF4-FFF2-40B4-BE49-F238E27FC236}">
                <a16:creationId xmlns:a16="http://schemas.microsoft.com/office/drawing/2014/main" id="{4C39DAB8-B50E-4454-B3DA-80455108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62400"/>
            <a:ext cx="521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Destination lock, Blockscout, green CI</a:t>
            </a:r>
          </a:p>
        </p:txBody>
      </p:sp>
      <p:sp>
        <p:nvSpPr>
          <p:cNvPr id="15" name="demo-time-3">
            <a:extLst xmlns:a="http://schemas.openxmlformats.org/drawingml/2006/main">
              <a:ext uri="{FF2B5EF4-FFF2-40B4-BE49-F238E27FC236}">
                <a16:creationId xmlns:a16="http://schemas.microsoft.com/office/drawing/2014/main" id="{12E1EC81-7A80-434E-9D5A-AE47D49E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2954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252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emo-time-copy-3">
            <a:extLst xmlns:a="http://schemas.openxmlformats.org/drawingml/2006/main">
              <a:ext uri="{FF2B5EF4-FFF2-40B4-BE49-F238E27FC236}">
                <a16:creationId xmlns:a16="http://schemas.microsoft.com/office/drawing/2014/main" id="{4A36BE35-F481-4977-BC31-7753B77D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57–60s</a:t>
            </a:r>
          </a:p>
        </p:txBody>
      </p:sp>
      <p:sp>
        <p:nvSpPr>
          <p:cNvPr id="17" name="demo-label-3">
            <a:extLst xmlns:a="http://schemas.openxmlformats.org/drawingml/2006/main">
              <a:ext uri="{FF2B5EF4-FFF2-40B4-BE49-F238E27FC236}">
                <a16:creationId xmlns:a16="http://schemas.microsoft.com/office/drawing/2014/main" id="{C288E546-D82E-4292-859E-58FEA871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67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EA4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EA4FF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18" name="demo-copy-3">
            <a:extLst xmlns:a="http://schemas.openxmlformats.org/drawingml/2006/main">
              <a:ext uri="{FF2B5EF4-FFF2-40B4-BE49-F238E27FC236}">
                <a16:creationId xmlns:a16="http://schemas.microsoft.com/office/drawing/2014/main" id="{A8B33331-3D93-44AB-BD7E-31004E71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521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Permissionless execution without payout authority</a:t>
            </a:r>
          </a:p>
        </p:txBody>
      </p:sp>
      <p:sp>
        <p:nvSpPr>
          <p:cNvPr id="19" name="demo-divider">
            <a:extLst xmlns:a="http://schemas.openxmlformats.org/drawingml/2006/main">
              <a:ext uri="{FF2B5EF4-FFF2-40B4-BE49-F238E27FC236}">
                <a16:creationId xmlns:a16="http://schemas.microsoft.com/office/drawing/2014/main" id="{B12D5298-C1BD-4C36-A784-92963809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0" cy="384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333A"/>
            </a:solidFill>
            <a:prstDash val="solid"/>
          </a:ln>
        </p:spPr>
      </p:sp>
      <p:sp>
        <p:nvSpPr>
          <p:cNvPr id="20" name="blocker-kicker">
            <a:extLst xmlns:a="http://schemas.openxmlformats.org/drawingml/2006/main">
              <a:ext uri="{FF2B5EF4-FFF2-40B4-BE49-F238E27FC236}">
                <a16:creationId xmlns:a16="http://schemas.microsoft.com/office/drawing/2014/main" id="{4D6E9FE9-61AD-44C3-AE21-2E5D0949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A71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3A712"/>
                </a:solidFill>
                <a:latin typeface="Arial"/>
                <a:ea typeface="Arial"/>
                <a:cs typeface="Arial"/>
              </a:rPr>
              <a:t>SUBMISSION BLOCKERS</a:t>
            </a:r>
          </a:p>
        </p:txBody>
      </p:sp>
      <p:sp>
        <p:nvSpPr>
          <p:cNvPr id="21" name="blocker-title">
            <a:extLst xmlns:a="http://schemas.openxmlformats.org/drawingml/2006/main">
              <a:ext uri="{FF2B5EF4-FFF2-40B4-BE49-F238E27FC236}">
                <a16:creationId xmlns:a16="http://schemas.microsoft.com/office/drawing/2014/main" id="{57EE0C22-80BC-4B13-8972-E5B4A3D4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669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Two public links</a:t>
            </a:r>
          </a:p>
        </p:txBody>
      </p:sp>
      <p:sp>
        <p:nvSpPr>
          <p:cNvPr id="22" name="blocker-body">
            <a:extLst xmlns:a="http://schemas.openxmlformats.org/drawingml/2006/main">
              <a:ext uri="{FF2B5EF4-FFF2-40B4-BE49-F238E27FC236}">
                <a16:creationId xmlns:a16="http://schemas.microsoft.com/office/drawing/2014/main" id="{67E57CAD-DF82-496A-98EC-E92DCC95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2571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B9C0C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9C0CB"/>
                </a:solidFill>
                <a:latin typeface="Arial"/>
                <a:ea typeface="Arial"/>
                <a:cs typeface="Arial"/>
              </a:rPr>
              <a:t>1. Demo site without authentication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B9C0C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9C0CB"/>
                </a:solidFill>
                <a:latin typeface="Arial"/>
                <a:ea typeface="Arial"/>
                <a:cs typeface="Arial"/>
              </a:rPr>
              <a:t>2. Public 60-second video</a:t>
            </a:r>
          </a:p>
        </p:txBody>
      </p:sp>
      <p:sp>
        <p:nvSpPr>
          <p:cNvPr id="23" name="blocker-status">
            <a:extLst xmlns:a="http://schemas.openxmlformats.org/drawingml/2006/main">
              <a:ext uri="{FF2B5EF4-FFF2-40B4-BE49-F238E27FC236}">
                <a16:creationId xmlns:a16="http://schemas.microsoft.com/office/drawing/2014/main" id="{6DA55995-DB87-4D77-A028-E85F43F9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62500"/>
            <a:ext cx="2571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B2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locker-status-text">
            <a:extLst xmlns:a="http://schemas.openxmlformats.org/drawingml/2006/main">
              <a:ext uri="{FF2B5EF4-FFF2-40B4-BE49-F238E27FC236}">
                <a16:creationId xmlns:a16="http://schemas.microsoft.com/office/drawing/2014/main" id="{DA2DE6A8-517B-4777-A912-0FF47764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9339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A7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A712"/>
                </a:solidFill>
                <a:latin typeface="Arial"/>
                <a:ea typeface="Arial"/>
                <a:cs typeface="Arial"/>
              </a:rPr>
              <a:t>Not yet submitted</a:t>
            </a:r>
          </a:p>
        </p:txBody>
      </p:sp>
      <p:sp>
        <p:nvSpPr>
          <p:cNvPr id="25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9D76E994-5349-4E2E-AACB-C458C7BC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33A"/>
            </a:solidFill>
            <a:prstDash val="solid"/>
          </a:ln>
        </p:spPr>
      </p:sp>
      <p:sp>
        <p:nvSpPr>
          <p:cNvPr id="26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BC2113D7-0702-4DA4-B251-1B9C43B4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94A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B94A3"/>
                </a:solidFill>
                <a:latin typeface="Arial"/>
                <a:ea typeface="Arial"/>
                <a:cs typeface="Arial"/>
              </a:rPr>
              <a:t>HEIRLOOM · BASE SEPOLIA PROPOSAL</a:t>
            </a:r>
          </a:p>
        </p:txBody>
      </p:sp>
      <p:sp>
        <p:nvSpPr>
          <p:cNvPr id="27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084EC27B-6557-4C94-8488-489AEF88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94A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B94A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206051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lose-blue">
            <a:extLst xmlns:a="http://schemas.openxmlformats.org/drawingml/2006/main">
              <a:ext uri="{FF2B5EF4-FFF2-40B4-BE49-F238E27FC236}">
                <a16:creationId xmlns:a16="http://schemas.microsoft.com/office/drawing/2014/main" id="{60B0E939-6CCE-40B4-9460-6CA9C38E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brand">
            <a:extLst xmlns:a="http://schemas.openxmlformats.org/drawingml/2006/main">
              <a:ext uri="{FF2B5EF4-FFF2-40B4-BE49-F238E27FC236}">
                <a16:creationId xmlns:a16="http://schemas.microsoft.com/office/drawing/2014/main" id="{C5EC45D5-314A-4F25-BBEA-491F062F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HEIRLOOM</a:t>
            </a:r>
          </a:p>
        </p:txBody>
      </p:sp>
      <p:sp>
        <p:nvSpPr>
          <p:cNvPr id="3" name="close-thesis">
            <a:extLst xmlns:a="http://schemas.openxmlformats.org/drawingml/2006/main">
              <a:ext uri="{FF2B5EF4-FFF2-40B4-BE49-F238E27FC236}">
                <a16:creationId xmlns:a16="http://schemas.microsoft.com/office/drawing/2014/main" id="{0BA595C1-810D-4405-8FDF-A9890FDA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66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new Base primitive for continuity—not custody</a:t>
            </a:r>
          </a:p>
        </p:txBody>
      </p:sp>
      <p:sp>
        <p:nvSpPr>
          <p:cNvPr id="4" name="close-status">
            <a:extLst xmlns:a="http://schemas.openxmlformats.org/drawingml/2006/main">
              <a:ext uri="{FF2B5EF4-FFF2-40B4-BE49-F238E27FC236}">
                <a16:creationId xmlns:a16="http://schemas.microsoft.com/office/drawing/2014/main" id="{BC42DD30-AB71-4805-8975-A1A3C9F3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9E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9EFFF"/>
                </a:solidFill>
                <a:latin typeface="Arial"/>
                <a:ea typeface="Arial"/>
                <a:cs typeface="Arial"/>
              </a:rPr>
              <a:t>PROPOSAL SCOPE</a:t>
            </a:r>
          </a:p>
        </p:txBody>
      </p:sp>
      <p:sp>
        <p:nvSpPr>
          <p:cNvPr id="5" name="close-status-copy">
            <a:extLst xmlns:a="http://schemas.openxmlformats.org/drawingml/2006/main">
              <a:ext uri="{FF2B5EF4-FFF2-40B4-BE49-F238E27FC236}">
                <a16:creationId xmlns:a16="http://schemas.microsoft.com/office/drawing/2014/main" id="{9F8EFA21-191F-4969-BDC5-1EA9B039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 Sepolia prototype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 mainnet later</a:t>
            </a:r>
          </a:p>
        </p:txBody>
      </p:sp>
      <p:sp>
        <p:nvSpPr>
          <p:cNvPr id="6" name="ask-kicker">
            <a:extLst xmlns:a="http://schemas.openxmlformats.org/drawingml/2006/main">
              <a:ext uri="{FF2B5EF4-FFF2-40B4-BE49-F238E27FC236}">
                <a16:creationId xmlns:a16="http://schemas.microsoft.com/office/drawing/2014/main" id="{CEB7AE1C-A908-485C-84ED-E34E0478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4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THE ASK</a:t>
            </a:r>
          </a:p>
        </p:txBody>
      </p:sp>
      <p:sp>
        <p:nvSpPr>
          <p:cNvPr id="7" name="ask-title">
            <a:extLst xmlns:a="http://schemas.openxmlformats.org/drawingml/2006/main">
              <a:ext uri="{FF2B5EF4-FFF2-40B4-BE49-F238E27FC236}">
                <a16:creationId xmlns:a16="http://schemas.microsoft.com/office/drawing/2014/main" id="{CB74FB37-5E55-46EB-9631-6BDC8121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162050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Help turn a verified prototype into a measured Base pilot</a:t>
            </a:r>
          </a:p>
        </p:txBody>
      </p:sp>
      <p:sp>
        <p:nvSpPr>
          <p:cNvPr id="8" name="ask-num-0">
            <a:extLst xmlns:a="http://schemas.openxmlformats.org/drawingml/2006/main">
              <a:ext uri="{FF2B5EF4-FFF2-40B4-BE49-F238E27FC236}">
                <a16:creationId xmlns:a16="http://schemas.microsoft.com/office/drawing/2014/main" id="{94F22057-A7BD-4E91-A257-9E41876D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575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ask-label-0">
            <a:extLst xmlns:a="http://schemas.openxmlformats.org/drawingml/2006/main">
              <a:ext uri="{FF2B5EF4-FFF2-40B4-BE49-F238E27FC236}">
                <a16:creationId xmlns:a16="http://schemas.microsoft.com/office/drawing/2014/main" id="{A87A7F9A-CBBC-429F-98EF-61DCEC58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57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PUBLIC DEMO</a:t>
            </a:r>
          </a:p>
        </p:txBody>
      </p:sp>
      <p:sp>
        <p:nvSpPr>
          <p:cNvPr id="10" name="ask-copy-0">
            <a:extLst xmlns:a="http://schemas.openxmlformats.org/drawingml/2006/main">
              <a:ext uri="{FF2B5EF4-FFF2-40B4-BE49-F238E27FC236}">
                <a16:creationId xmlns:a16="http://schemas.microsoft.com/office/drawing/2014/main" id="{408083FD-A88E-4A82-B132-838D4AC1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62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9707D"/>
                </a:solidFill>
                <a:latin typeface="Arial"/>
                <a:ea typeface="Arial"/>
                <a:cs typeface="Arial"/>
              </a:rPr>
              <a:t>Open the product to reviewers without authentication</a:t>
            </a:r>
          </a:p>
        </p:txBody>
      </p:sp>
      <p:sp>
        <p:nvSpPr>
          <p:cNvPr id="11" name="ask-num-1">
            <a:extLst xmlns:a="http://schemas.openxmlformats.org/drawingml/2006/main">
              <a:ext uri="{FF2B5EF4-FFF2-40B4-BE49-F238E27FC236}">
                <a16:creationId xmlns:a16="http://schemas.microsoft.com/office/drawing/2014/main" id="{9193FC69-5EEE-489E-8704-F3D68FB1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100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ask-label-1">
            <a:extLst xmlns:a="http://schemas.openxmlformats.org/drawingml/2006/main">
              <a:ext uri="{FF2B5EF4-FFF2-40B4-BE49-F238E27FC236}">
                <a16:creationId xmlns:a16="http://schemas.microsoft.com/office/drawing/2014/main" id="{1ADA7C76-E2F5-4133-8769-725B7BBF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10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TESTNET PILOT</a:t>
            </a:r>
          </a:p>
        </p:txBody>
      </p:sp>
      <p:sp>
        <p:nvSpPr>
          <p:cNvPr id="13" name="ask-copy-1">
            <a:extLst xmlns:a="http://schemas.openxmlformats.org/drawingml/2006/main">
              <a:ext uri="{FF2B5EF4-FFF2-40B4-BE49-F238E27FC236}">
                <a16:creationId xmlns:a16="http://schemas.microsoft.com/office/drawing/2014/main" id="{910D3DA3-06CB-4E65-9C4F-CDBA70D7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148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9707D"/>
                </a:solidFill>
                <a:latin typeface="Arial"/>
                <a:ea typeface="Arial"/>
                <a:cs typeface="Arial"/>
              </a:rPr>
              <a:t>Measure onboarding and continuity-plan comprehension</a:t>
            </a:r>
          </a:p>
        </p:txBody>
      </p:sp>
      <p:sp>
        <p:nvSpPr>
          <p:cNvPr id="14" name="ask-num-2">
            <a:extLst xmlns:a="http://schemas.openxmlformats.org/drawingml/2006/main">
              <a:ext uri="{FF2B5EF4-FFF2-40B4-BE49-F238E27FC236}">
                <a16:creationId xmlns:a16="http://schemas.microsoft.com/office/drawing/2014/main" id="{511E9885-F895-4A31-9C21-CAC19DA5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625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ask-label-2">
            <a:extLst xmlns:a="http://schemas.openxmlformats.org/drawingml/2006/main">
              <a:ext uri="{FF2B5EF4-FFF2-40B4-BE49-F238E27FC236}">
                <a16:creationId xmlns:a16="http://schemas.microsoft.com/office/drawing/2014/main" id="{D7A99D60-385C-4334-B481-DAE644B2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62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B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B0D"/>
                </a:solidFill>
                <a:latin typeface="Arial"/>
                <a:ea typeface="Arial"/>
                <a:cs typeface="Arial"/>
              </a:rPr>
              <a:t>BASE DISTRIBUTION</a:t>
            </a:r>
          </a:p>
        </p:txBody>
      </p:sp>
      <p:sp>
        <p:nvSpPr>
          <p:cNvPr id="16" name="ask-copy-2">
            <a:extLst xmlns:a="http://schemas.openxmlformats.org/drawingml/2006/main">
              <a:ext uri="{FF2B5EF4-FFF2-40B4-BE49-F238E27FC236}">
                <a16:creationId xmlns:a16="http://schemas.microsoft.com/office/drawing/2014/main" id="{BCE51091-B6A9-4518-83B3-E9138417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67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69707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9707D"/>
                </a:solidFill>
                <a:latin typeface="Arial"/>
                <a:ea typeface="Arial"/>
                <a:cs typeface="Arial"/>
              </a:rPr>
              <a:t>Reach self-custody users beyond trading workflows</a:t>
            </a:r>
          </a:p>
        </p:txBody>
      </p:sp>
      <p:sp>
        <p:nvSpPr>
          <p:cNvPr id="17" name="close-line">
            <a:extLst xmlns:a="http://schemas.openxmlformats.org/drawingml/2006/main">
              <a:ext uri="{FF2B5EF4-FFF2-40B4-BE49-F238E27FC236}">
                <a16:creationId xmlns:a16="http://schemas.microsoft.com/office/drawing/2014/main" id="{41819E45-DA3F-4814-9E40-78139132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9055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52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52FF"/>
                </a:solidFill>
                <a:latin typeface="Arial"/>
                <a:ea typeface="Arial"/>
                <a:cs typeface="Arial"/>
              </a:rPr>
              <a:t>Permissionless execution. Destination-locked outcomes.</a:t>
            </a:r>
          </a:p>
        </p:txBody>
      </p:sp>
    </p:spTree>
    <p:extLst>
      <p:ext uri="{BB962C8B-B14F-4D97-AF65-F5344CB8AC3E}">
        <p14:creationId xmlns:p14="http://schemas.microsoft.com/office/powerpoint/2010/main" val="419758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2026-08-15T09:27:09.5370000Z</dcterms:created>
  <dcterms:modified xsi:type="dcterms:W3CDTF">2026-08-15T09:27:09.5370000Z</dcterms:modified>
</coreProperties>
</file>